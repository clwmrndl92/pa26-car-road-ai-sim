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4" r:id="rId4"/>
    <p:sldId id="267" r:id="rId5"/>
    <p:sldId id="258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CF3C1C"/>
    <a:srgbClr val="F8D4CC"/>
    <a:srgbClr val="25ADFF"/>
    <a:srgbClr val="D0D8E8"/>
    <a:srgbClr val="E9EDF4"/>
    <a:srgbClr val="D9B4AB"/>
    <a:srgbClr val="A15848"/>
    <a:srgbClr val="FFFFFF"/>
    <a:srgbClr val="3C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8" autoAdjust="0"/>
    <p:restoredTop sz="85185" autoAdjust="0"/>
  </p:normalViewPr>
  <p:slideViewPr>
    <p:cSldViewPr>
      <p:cViewPr varScale="1">
        <p:scale>
          <a:sx n="108" d="100"/>
          <a:sy n="108" d="100"/>
        </p:scale>
        <p:origin x="42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12881-8C8D-44A6-AE66-9F7D64B0003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0BF9F-FA8F-4CB1-839A-D4536A9CA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82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7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74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-- </a:t>
            </a:r>
            <a:r>
              <a:rPr lang="en-US" altLang="ko-KR" sz="1200" dirty="0" err="1">
                <a:latin typeface="Malgun Gothic"/>
                <a:cs typeface="Malgun Gothic"/>
              </a:rPr>
              <a:t>VehicleCollision</a:t>
            </a:r>
            <a:r>
              <a:rPr lang="en-US" altLang="ko-KR" sz="1200" dirty="0">
                <a:latin typeface="Malgun Gothic"/>
                <a:cs typeface="Malgun Gothic"/>
              </a:rPr>
              <a:t>::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benchmark --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  1  iterations=2000000  total= 111.13ms  avg= 0.056us/call  hits=1953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  6  iterations= 333333  total=  54.67ms  avg= 0.164us/call  hits=1901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 20  iterations= 100000  total=  46.64ms  avg= 0.466us/call  hits=2027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 50  iterations=  40000  total=  44.47ms  avg= 1.112us/call  hits=1999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obstacles=200  iterations=  10000  total=  42.02ms  avg= 4.202us/call  hits=1846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obstacles=500  iterations=   4000  total=  38.97ms  avg= 9.742us/call  hits=1576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/>
              <a:t>Bounding</a:t>
            </a:r>
            <a:r>
              <a:rPr lang="ko-KR" altLang="ko-KR" sz="1200" dirty="0"/>
              <a:t> </a:t>
            </a:r>
            <a:r>
              <a:rPr lang="ko-KR" altLang="ko-KR" sz="1200" dirty="0" err="1"/>
              <a:t>Circle</a:t>
            </a:r>
            <a:r>
              <a:rPr lang="en-US" altLang="ko-KR" sz="1200" dirty="0"/>
              <a:t> </a:t>
            </a:r>
            <a:r>
              <a:rPr lang="ko-KR" altLang="en-US" sz="1200" dirty="0"/>
              <a:t>우선 거르기</a:t>
            </a:r>
            <a:r>
              <a:rPr lang="en-US" altLang="ko-KR" sz="1200" dirty="0"/>
              <a:t>, </a:t>
            </a:r>
            <a:r>
              <a:rPr lang="ko-KR" altLang="en-US" sz="1200" dirty="0"/>
              <a:t>코드 최적화 후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  1  iterations=2000000  total=  74.19ms  avg= 0.037us/call  hits=1953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  6  iterations= 333333  total=  18.95ms  avg= 0.057us/call  hits=1901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 20  iterations= 100000  total=  10.30ms  avg= 0.103us/call  hits=2027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 50  iterations=  40000  total=   8.07ms  avg= 0.202us/call  hits=1999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obstacles=200  iterations=  10000  total=   6.09ms  avg= 0.609us/call  hits=1846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Malgun Gothic"/>
                <a:cs typeface="Malgun Gothic"/>
              </a:rPr>
              <a:t>[bench] </a:t>
            </a:r>
            <a:r>
              <a:rPr lang="en-US" altLang="ko-KR" sz="1200" dirty="0" err="1">
                <a:latin typeface="Malgun Gothic"/>
                <a:cs typeface="Malgun Gothic"/>
              </a:rPr>
              <a:t>IsColliding</a:t>
            </a:r>
            <a:r>
              <a:rPr lang="en-US" altLang="ko-KR" sz="1200" dirty="0">
                <a:latin typeface="Malgun Gothic"/>
                <a:cs typeface="Malgun Gothic"/>
              </a:rPr>
              <a:t> obstacles=500  iterations=   4000  total=   5.30ms  avg= 1.325us/call  hits=1576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08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638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2932" y="2572334"/>
            <a:ext cx="6614795" cy="84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84403"/>
            <a:ext cx="610425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0725" y="2085975"/>
            <a:ext cx="8210550" cy="3333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932" y="3695827"/>
            <a:ext cx="2962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자동차</a:t>
            </a:r>
            <a:r>
              <a:rPr sz="2400" spc="5" dirty="0">
                <a:solidFill>
                  <a:srgbClr val="CF3C1C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AI </a:t>
            </a:r>
            <a:r>
              <a:rPr sz="2400" spc="-10" dirty="0">
                <a:solidFill>
                  <a:srgbClr val="CF3C1C"/>
                </a:solidFill>
                <a:latin typeface="Malgun Gothic"/>
                <a:cs typeface="Malgun Gothic"/>
              </a:rPr>
              <a:t>시뮬레이션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393939"/>
                </a:solidFill>
              </a:rPr>
              <a:t>5</a:t>
            </a:r>
            <a:r>
              <a:rPr sz="5400" dirty="0">
                <a:solidFill>
                  <a:srgbClr val="393939"/>
                </a:solidFill>
              </a:rPr>
              <a:t>주차</a:t>
            </a:r>
            <a:r>
              <a:rPr sz="5400" spc="-10" dirty="0">
                <a:solidFill>
                  <a:srgbClr val="393939"/>
                </a:solidFill>
              </a:rPr>
              <a:t> </a:t>
            </a:r>
            <a:r>
              <a:rPr sz="5400" dirty="0">
                <a:solidFill>
                  <a:srgbClr val="393939"/>
                </a:solidFill>
              </a:rPr>
              <a:t>개발 진행</a:t>
            </a:r>
            <a:r>
              <a:rPr sz="5400" spc="-5" dirty="0">
                <a:solidFill>
                  <a:srgbClr val="393939"/>
                </a:solidFill>
              </a:rPr>
              <a:t> </a:t>
            </a:r>
            <a:r>
              <a:rPr sz="5400" spc="-25" dirty="0">
                <a:solidFill>
                  <a:srgbClr val="393939"/>
                </a:solidFill>
              </a:rPr>
              <a:t>보고</a:t>
            </a:r>
            <a:endParaRPr sz="5400" dirty="0"/>
          </a:p>
        </p:txBody>
      </p:sp>
      <p:sp>
        <p:nvSpPr>
          <p:cNvPr id="4" name="object 4"/>
          <p:cNvSpPr txBox="1"/>
          <p:nvPr/>
        </p:nvSpPr>
        <p:spPr>
          <a:xfrm>
            <a:off x="9659239" y="6299403"/>
            <a:ext cx="20574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Malgun Gothic"/>
                <a:cs typeface="Malgun Gothic"/>
              </a:rPr>
              <a:t>2026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펄어비스</a:t>
            </a:r>
            <a:r>
              <a:rPr sz="1050" spc="-2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여름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인턴 | </a:t>
            </a:r>
            <a:r>
              <a:rPr sz="1050" spc="-25" dirty="0">
                <a:latin typeface="Malgun Gothic"/>
                <a:cs typeface="Malgun Gothic"/>
              </a:rPr>
              <a:t>박인영</a:t>
            </a:r>
            <a:endParaRPr sz="10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78A6384-9146-4939-394F-B34ADED8A35A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33747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목표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다수 차량의 자연스러운 주행</a:t>
            </a:r>
            <a:endParaRPr lang="en-US" altLang="ko-KR" sz="1600" b="1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이번주 작업</a:t>
            </a:r>
            <a:endParaRPr lang="en-US" altLang="ko-KR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차간 안전거리 유지 및 속도조절 </a:t>
            </a:r>
            <a:r>
              <a:rPr lang="en-US" altLang="ko-KR" sz="1400" dirty="0">
                <a:latin typeface="+mn-ea"/>
              </a:rPr>
              <a:t>(IIDM + CAH)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algun Gothic"/>
                <a:cs typeface="Malgun Gothic"/>
              </a:rPr>
              <a:t>주변차를 </a:t>
            </a:r>
            <a:r>
              <a:rPr lang="ko-KR" altLang="en-US" sz="1400" dirty="0"/>
              <a:t>고려한 차선변경</a:t>
            </a:r>
            <a:r>
              <a:rPr lang="ko-KR" altLang="en-US" sz="1100" dirty="0">
                <a:latin typeface="Malgun Gothic"/>
                <a:cs typeface="Malgun Gothic"/>
              </a:rPr>
              <a:t> </a:t>
            </a:r>
            <a:r>
              <a:rPr lang="en-US" altLang="ko-KR" sz="1400" dirty="0">
                <a:latin typeface="Malgun Gothic"/>
                <a:cs typeface="Malgun Gothic"/>
              </a:rPr>
              <a:t>(MOBIL)</a:t>
            </a:r>
            <a:endParaRPr lang="en-US" altLang="ko-KR" sz="1600" dirty="0">
              <a:latin typeface="+mn-ea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교차로 신호 준수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장애물 회피</a:t>
            </a: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추가 작업</a:t>
            </a:r>
            <a:endParaRPr lang="en-US" altLang="ko-KR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algun Gothic"/>
                <a:cs typeface="Malgun Gothic"/>
              </a:rPr>
              <a:t>주차 개선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algun Gothic"/>
                <a:cs typeface="Malgun Gothic"/>
              </a:rPr>
              <a:t>Hybrid A*</a:t>
            </a:r>
            <a:r>
              <a:rPr lang="ko-KR" altLang="en-US" sz="1400" dirty="0">
                <a:latin typeface="Malgun Gothic"/>
                <a:cs typeface="Malgun Gothic"/>
              </a:rPr>
              <a:t>성능 측정</a:t>
            </a:r>
            <a:endParaRPr lang="en-US" altLang="ko-KR" sz="1600" dirty="0">
              <a:latin typeface="+mn-ea"/>
              <a:cs typeface="Malgun Gothic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5</a:t>
            </a:r>
            <a:r>
              <a:rPr dirty="0"/>
              <a:t>주차</a:t>
            </a:r>
            <a:r>
              <a:rPr spc="-50" dirty="0"/>
              <a:t> </a:t>
            </a:r>
            <a:r>
              <a:rPr dirty="0"/>
              <a:t>진행</a:t>
            </a:r>
            <a:r>
              <a:rPr spc="-50" dirty="0"/>
              <a:t> </a:t>
            </a:r>
            <a:r>
              <a:rPr spc="-25" dirty="0"/>
              <a:t>현황</a:t>
            </a:r>
          </a:p>
        </p:txBody>
      </p:sp>
      <p:sp>
        <p:nvSpPr>
          <p:cNvPr id="4" name="object 4"/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0D5A9-EF30-C2FA-41BD-461188DE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17A1AB1-A449-3EA6-18E4-5B0E8D4093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5</a:t>
            </a:r>
            <a:r>
              <a:rPr dirty="0"/>
              <a:t>주차</a:t>
            </a:r>
            <a:r>
              <a:rPr spc="-50" dirty="0"/>
              <a:t> </a:t>
            </a:r>
            <a:r>
              <a:rPr dirty="0" err="1"/>
              <a:t>진행</a:t>
            </a:r>
            <a:r>
              <a:rPr spc="-50" dirty="0"/>
              <a:t> </a:t>
            </a:r>
            <a:r>
              <a:rPr spc="-25" dirty="0" err="1"/>
              <a:t>현황</a:t>
            </a:r>
            <a:r>
              <a:rPr lang="en-US" spc="-25" dirty="0"/>
              <a:t> – </a:t>
            </a:r>
            <a:r>
              <a:rPr lang="ko-KR" altLang="en-US" spc="-25" dirty="0"/>
              <a:t>결과 영상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8031128-2D36-341E-B655-4D9B46C691D6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0527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3042C-DA12-125F-69ED-DA6BB20C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F55A566-7971-6A1F-76B0-E42C687A5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최적화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1C66AFD-E123-1EA0-16A7-4E57587C4F24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E32851F-5CA3-4F15-215B-873F94B2F368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2158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OBB </a:t>
            </a:r>
            <a:r>
              <a:rPr lang="ko-KR" altLang="en-US" sz="1600" dirty="0">
                <a:latin typeface="+mn-ea"/>
              </a:rPr>
              <a:t>충돌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체크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/>
              <a:t>Bounding</a:t>
            </a:r>
            <a:r>
              <a:rPr lang="ko-KR" altLang="ko-KR" sz="1200" dirty="0"/>
              <a:t> </a:t>
            </a:r>
            <a:r>
              <a:rPr lang="ko-KR" altLang="ko-KR" sz="1200" dirty="0" err="1"/>
              <a:t>Circle</a:t>
            </a:r>
            <a:r>
              <a:rPr lang="en-US" altLang="ko-KR" sz="1200" dirty="0"/>
              <a:t> </a:t>
            </a:r>
            <a:r>
              <a:rPr lang="ko-KR" altLang="en-US" sz="1200" dirty="0"/>
              <a:t>우선 거르기</a:t>
            </a:r>
            <a:r>
              <a:rPr lang="en-US" altLang="ko-KR" sz="1200" dirty="0"/>
              <a:t>, </a:t>
            </a:r>
            <a:r>
              <a:rPr lang="ko-KR" altLang="en-US" sz="1200" dirty="0"/>
              <a:t>코드 최적화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예산 </a:t>
            </a:r>
            <a:r>
              <a:rPr lang="en-US" altLang="ko-KR" sz="1200" dirty="0"/>
              <a:t>1ms</a:t>
            </a:r>
            <a:r>
              <a:rPr lang="ko-KR" altLang="en-US" sz="1200" dirty="0"/>
              <a:t>면</a:t>
            </a:r>
            <a:r>
              <a:rPr lang="en-US" altLang="ko-KR" sz="1200" dirty="0"/>
              <a:t> AI </a:t>
            </a:r>
            <a:r>
              <a:rPr lang="ko-KR" altLang="en-US" sz="1200" dirty="0"/>
              <a:t>판단하는 근처 차가 </a:t>
            </a:r>
            <a:r>
              <a:rPr lang="en-US" altLang="ko-KR" sz="1200" dirty="0"/>
              <a:t>30</a:t>
            </a:r>
            <a:r>
              <a:rPr lang="ko-KR" altLang="en-US" sz="1200" dirty="0"/>
              <a:t>대 있다고 치면</a:t>
            </a:r>
            <a:r>
              <a:rPr lang="en-US" altLang="ko-KR" sz="1200" dirty="0"/>
              <a:t>, 4,880 ÷ 30 ≈ </a:t>
            </a:r>
            <a:r>
              <a:rPr lang="ko-KR" altLang="en-US" sz="1200" dirty="0"/>
              <a:t>차 </a:t>
            </a:r>
            <a:r>
              <a:rPr lang="en-US" altLang="ko-KR" sz="1200" dirty="0"/>
              <a:t>1</a:t>
            </a:r>
            <a:r>
              <a:rPr lang="ko-KR" altLang="en-US" sz="1200" dirty="0"/>
              <a:t>대당 프레임당 약 </a:t>
            </a:r>
            <a:r>
              <a:rPr lang="en-US" altLang="ko-KR" sz="1200" dirty="0"/>
              <a:t>160</a:t>
            </a:r>
            <a:r>
              <a:rPr lang="ko-KR" altLang="en-US" sz="1200" dirty="0"/>
              <a:t>번</a:t>
            </a:r>
            <a:r>
              <a:rPr lang="en-US" altLang="ko-KR" sz="1200" dirty="0"/>
              <a:t>(</a:t>
            </a:r>
            <a:r>
              <a:rPr lang="ko-KR" altLang="en-US" sz="1200" dirty="0"/>
              <a:t>장애물 </a:t>
            </a:r>
            <a:r>
              <a:rPr lang="en-US" altLang="ko-KR" sz="1200" dirty="0"/>
              <a:t>50</a:t>
            </a:r>
            <a:r>
              <a:rPr lang="ko-KR" altLang="en-US" sz="1200" dirty="0"/>
              <a:t>개 기준</a:t>
            </a:r>
            <a:r>
              <a:rPr lang="en-US" altLang="ko-KR" sz="1200" dirty="0"/>
              <a:t>), </a:t>
            </a:r>
            <a:r>
              <a:rPr lang="ko-KR" altLang="en-US" sz="1200" dirty="0" err="1"/>
              <a:t>레이캐스트는</a:t>
            </a:r>
            <a:r>
              <a:rPr lang="ko-KR" altLang="en-US" sz="1200" dirty="0"/>
              <a:t> </a:t>
            </a:r>
            <a:r>
              <a:rPr lang="en-US" altLang="ko-KR" sz="1200" dirty="0"/>
              <a:t>4200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현재 </a:t>
            </a:r>
            <a:r>
              <a:rPr lang="en-US" altLang="ko-KR" sz="1200" dirty="0" err="1"/>
              <a:t>EvaluateTrajectorySafety</a:t>
            </a:r>
            <a:r>
              <a:rPr lang="ko-KR" altLang="en-US" sz="1200" dirty="0"/>
              <a:t>가 </a:t>
            </a:r>
            <a:r>
              <a:rPr lang="en-US" altLang="ko-KR" sz="1200" dirty="0"/>
              <a:t>270</a:t>
            </a:r>
            <a:r>
              <a:rPr lang="ko-KR" altLang="en-US" sz="1200" dirty="0"/>
              <a:t>번 </a:t>
            </a:r>
            <a:r>
              <a:rPr lang="en-US" altLang="ko-KR" sz="1200" dirty="0"/>
              <a:t>(0.2</a:t>
            </a:r>
            <a:r>
              <a:rPr lang="ko-KR" altLang="en-US" sz="1200" dirty="0"/>
              <a:t>초마다</a:t>
            </a:r>
            <a:r>
              <a:rPr lang="en-US" altLang="ko-KR" sz="1200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62D2753-55FE-E3E7-2221-F9F83388D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112423"/>
              </p:ext>
            </p:extLst>
          </p:nvPr>
        </p:nvGraphicFramePr>
        <p:xfrm>
          <a:off x="2133600" y="3276600"/>
          <a:ext cx="3114676" cy="1676402"/>
        </p:xfrm>
        <a:graphic>
          <a:graphicData uri="http://schemas.openxmlformats.org/drawingml/2006/table">
            <a:tbl>
              <a:tblPr/>
              <a:tblGrid>
                <a:gridCol w="778669">
                  <a:extLst>
                    <a:ext uri="{9D8B030D-6E8A-4147-A177-3AD203B41FA5}">
                      <a16:colId xmlns:a16="http://schemas.microsoft.com/office/drawing/2014/main" val="308746072"/>
                    </a:ext>
                  </a:extLst>
                </a:gridCol>
                <a:gridCol w="778669">
                  <a:extLst>
                    <a:ext uri="{9D8B030D-6E8A-4147-A177-3AD203B41FA5}">
                      <a16:colId xmlns:a16="http://schemas.microsoft.com/office/drawing/2014/main" val="362796607"/>
                    </a:ext>
                  </a:extLst>
                </a:gridCol>
                <a:gridCol w="778669">
                  <a:extLst>
                    <a:ext uri="{9D8B030D-6E8A-4147-A177-3AD203B41FA5}">
                      <a16:colId xmlns:a16="http://schemas.microsoft.com/office/drawing/2014/main" val="3606350442"/>
                    </a:ext>
                  </a:extLst>
                </a:gridCol>
                <a:gridCol w="778669">
                  <a:extLst>
                    <a:ext uri="{9D8B030D-6E8A-4147-A177-3AD203B41FA5}">
                      <a16:colId xmlns:a16="http://schemas.microsoft.com/office/drawing/2014/main" val="1055238234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obstacles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before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 err="1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after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speedup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75542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1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0.056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0.037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1.5x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25366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6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0.164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0.057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2.9x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07575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20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0.466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0.103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4.5x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78398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50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1.112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0.202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5.5x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62082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200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4.202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0.609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6.9x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07951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500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9.742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1.325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µs</a:t>
                      </a:r>
                      <a:endParaRPr lang="ko-KR" sz="10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7.4x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71067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AADC634-E280-37F4-657F-57E154318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43544"/>
              </p:ext>
            </p:extLst>
          </p:nvPr>
        </p:nvGraphicFramePr>
        <p:xfrm>
          <a:off x="6103679" y="3429000"/>
          <a:ext cx="3114676" cy="1676402"/>
        </p:xfrm>
        <a:graphic>
          <a:graphicData uri="http://schemas.openxmlformats.org/drawingml/2006/table">
            <a:tbl>
              <a:tblPr/>
              <a:tblGrid>
                <a:gridCol w="778669">
                  <a:extLst>
                    <a:ext uri="{9D8B030D-6E8A-4147-A177-3AD203B41FA5}">
                      <a16:colId xmlns:a16="http://schemas.microsoft.com/office/drawing/2014/main" val="3851020447"/>
                    </a:ext>
                  </a:extLst>
                </a:gridCol>
                <a:gridCol w="778669">
                  <a:extLst>
                    <a:ext uri="{9D8B030D-6E8A-4147-A177-3AD203B41FA5}">
                      <a16:colId xmlns:a16="http://schemas.microsoft.com/office/drawing/2014/main" val="3191627694"/>
                    </a:ext>
                  </a:extLst>
                </a:gridCol>
                <a:gridCol w="778669">
                  <a:extLst>
                    <a:ext uri="{9D8B030D-6E8A-4147-A177-3AD203B41FA5}">
                      <a16:colId xmlns:a16="http://schemas.microsoft.com/office/drawing/2014/main" val="3434074777"/>
                    </a:ext>
                  </a:extLst>
                </a:gridCol>
                <a:gridCol w="778669">
                  <a:extLst>
                    <a:ext uri="{9D8B030D-6E8A-4147-A177-3AD203B41FA5}">
                      <a16:colId xmlns:a16="http://schemas.microsoft.com/office/drawing/2014/main" val="3587849896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obstacles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before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after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speedup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8863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1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0.059us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0.039us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1.5x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51417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6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0.170us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0.060us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2.8x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65462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20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0.464us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0.114us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4.1x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41132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50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1.161us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0.238us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4.9x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07592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200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4.853us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0.828us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5.9x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0639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500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13.089us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2.012us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00" b="0" i="0" dirty="0">
                          <a:solidFill>
                            <a:srgbClr val="BFBFBF"/>
                          </a:solidFill>
                          <a:effectLst/>
                          <a:latin typeface="-apple-system"/>
                        </a:rPr>
                        <a:t>6.5x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849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65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dirty="0"/>
              <a:t>향후</a:t>
            </a:r>
            <a:r>
              <a:rPr spc="-70" dirty="0"/>
              <a:t> </a:t>
            </a:r>
            <a:r>
              <a:rPr dirty="0"/>
              <a:t>진행</a:t>
            </a:r>
            <a:r>
              <a:rPr spc="-75" dirty="0"/>
              <a:t> </a:t>
            </a:r>
            <a:r>
              <a:rPr spc="-25" dirty="0"/>
              <a:t>계획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596898"/>
            <a:ext cx="944626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lang="ko-KR" altLang="en-US" sz="1600" dirty="0">
                <a:latin typeface="Malgun Gothic"/>
                <a:cs typeface="Malgun Gothic"/>
              </a:rPr>
              <a:t>주차별 계획</a:t>
            </a:r>
            <a:endParaRPr sz="1600" dirty="0">
              <a:latin typeface="Malgun Gothic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912535"/>
              </p:ext>
            </p:extLst>
          </p:nvPr>
        </p:nvGraphicFramePr>
        <p:xfrm>
          <a:off x="2028825" y="2085975"/>
          <a:ext cx="8128000" cy="333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내용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비고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1주차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렌더링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기반 구축,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차량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조향/가속/제동/후진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강체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물리,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자전거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모델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2주차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길찾기,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차선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추종,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차선변경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BT,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스플라인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그래프,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A*,</a:t>
                      </a:r>
                      <a:r>
                        <a:rPr sz="12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PurePursuit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+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PID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3주차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ko-KR" altLang="en-US" sz="1200" b="1" dirty="0">
                          <a:latin typeface="Malgun Gothic"/>
                          <a:cs typeface="Malgun Gothic"/>
                        </a:rPr>
                        <a:t>주차 구현 및 단독 주행 튜닝 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lang="en-US" sz="1200" b="1" dirty="0">
                          <a:latin typeface="Malgun Gothic"/>
                          <a:cs typeface="Malgun Gothic"/>
                        </a:rPr>
                        <a:t>Reeds-Shepp, Hybrid A*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4주차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주행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AI</a:t>
                      </a:r>
                      <a:r>
                        <a:rPr sz="12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앞차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감지,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안전거리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유지,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신호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등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en-US" sz="1200" b="1" spc="-20" dirty="0">
                          <a:latin typeface="Malgun Gothic"/>
                          <a:cs typeface="Malgun Gothic"/>
                        </a:rPr>
                        <a:t>IDM, MOBIL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5주차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추월</a:t>
                      </a:r>
                      <a:r>
                        <a:rPr sz="1200" b="1" spc="-5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1200" b="1" spc="10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도로 합류</a:t>
                      </a:r>
                      <a:r>
                        <a:rPr sz="1200" b="1" spc="-5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1200" b="1" spc="10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00" b="1" spc="10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장애물</a:t>
                      </a:r>
                      <a:r>
                        <a:rPr sz="1200" b="1" spc="-5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대처</a:t>
                      </a:r>
                      <a:r>
                        <a:rPr sz="1200" b="1" spc="-5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차선</a:t>
                      </a:r>
                      <a:r>
                        <a:rPr sz="1200" b="1" spc="-5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0070C0"/>
                          </a:solidFill>
                          <a:latin typeface="Malgun Gothic"/>
                          <a:cs typeface="Malgun Gothic"/>
                        </a:rPr>
                        <a:t>우회)</a:t>
                      </a:r>
                      <a:endParaRPr sz="1200" dirty="0">
                        <a:solidFill>
                          <a:srgbClr val="0070C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6주차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운전</a:t>
                      </a:r>
                      <a:r>
                        <a:rPr sz="1200" b="1" spc="-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 err="1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스타일</a:t>
                      </a:r>
                      <a:r>
                        <a:rPr sz="1200" b="1" spc="1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 err="1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적용</a:t>
                      </a:r>
                      <a:endParaRPr sz="1200" dirty="0">
                        <a:solidFill>
                          <a:schemeClr val="tx1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파라미터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튜닝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7주차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대규모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차량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최적화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공간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분할,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AI/렌더링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LOD,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ECS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8주차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안정화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폴리싱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2301</TotalTime>
  <Words>567</Words>
  <Application>Microsoft Office PowerPoint</Application>
  <PresentationFormat>와이드스크린</PresentationFormat>
  <Paragraphs>121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-apple-system</vt:lpstr>
      <vt:lpstr>Arial MT</vt:lpstr>
      <vt:lpstr>맑은 고딕</vt:lpstr>
      <vt:lpstr>맑은 고딕</vt:lpstr>
      <vt:lpstr>Arial</vt:lpstr>
      <vt:lpstr>Calibri</vt:lpstr>
      <vt:lpstr>Times New Roman</vt:lpstr>
      <vt:lpstr>Office Theme</vt:lpstr>
      <vt:lpstr>5주차 개발 진행 보고</vt:lpstr>
      <vt:lpstr>5주차 진행 현황</vt:lpstr>
      <vt:lpstr>5주차 진행 현황 – 결과 영상</vt:lpstr>
      <vt:lpstr>작업내용 – 최적화</vt:lpstr>
      <vt:lpstr>향후 진행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박인영</dc:creator>
  <cp:lastModifiedBy>박인영</cp:lastModifiedBy>
  <cp:revision>57</cp:revision>
  <dcterms:created xsi:type="dcterms:W3CDTF">2026-07-10T04:44:00Z</dcterms:created>
  <dcterms:modified xsi:type="dcterms:W3CDTF">2026-07-27T08:39:34Z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2026-07-03T00:00:00Z</vt:filetime>
  </property>
  <property fmtid="{D5CDD505-2E9C-101B-9397-08002B2CF9AE}" pid="4" name="Creator">
    <vt:lpwstr>Microsoft® PowerPoint® Microsoft 365용</vt:lpwstr>
  </property>
  <property fmtid="{D5CDD505-2E9C-101B-9397-08002B2CF9AE}" pid="5" name="LastSaved">
    <vt:filetime>2026-07-10T00:00:00Z</vt:filetime>
  </property>
  <property fmtid="{D5CDD505-2E9C-101B-9397-08002B2CF9AE}" pid="6" name="Producer">
    <vt:lpwstr>Microsoft® PowerPoint® Microsoft 365용</vt:lpwstr>
  </property>
</Properties>
</file>