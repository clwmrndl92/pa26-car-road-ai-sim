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9" r:id="rId3"/>
    <p:sldId id="264" r:id="rId4"/>
    <p:sldId id="267" r:id="rId5"/>
    <p:sldId id="272" r:id="rId6"/>
    <p:sldId id="270" r:id="rId7"/>
    <p:sldId id="271" r:id="rId8"/>
    <p:sldId id="269" r:id="rId9"/>
    <p:sldId id="258" r:id="rId10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CF3C1C"/>
    <a:srgbClr val="F8D4CC"/>
    <a:srgbClr val="25ADFF"/>
    <a:srgbClr val="D0D8E8"/>
    <a:srgbClr val="E9EDF4"/>
    <a:srgbClr val="D9B4AB"/>
    <a:srgbClr val="A15848"/>
    <a:srgbClr val="FFFFFF"/>
    <a:srgbClr val="3C9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보통 스타일 3 - 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8" autoAdjust="0"/>
    <p:restoredTop sz="85185" autoAdjust="0"/>
  </p:normalViewPr>
  <p:slideViewPr>
    <p:cSldViewPr>
      <p:cViewPr varScale="1">
        <p:scale>
          <a:sx n="108" d="100"/>
          <a:sy n="108" d="100"/>
        </p:scale>
        <p:origin x="426" y="9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912881-8C8D-44A6-AE66-9F7D64B0003F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40BF9F-FA8F-4CB1-839A-D4536A9CAC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6829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0BF9F-FA8F-4CB1-839A-D4536A9CACB4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748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0BF9F-FA8F-4CB1-839A-D4536A9CACB4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1744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0BF9F-FA8F-4CB1-839A-D4536A9CACB4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0845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7070F-428F-9090-2DB6-4519D1387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0719B8D-C4E1-E322-FB90-219E293F16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9C772C-662B-28A7-453D-163401586E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2D1655-1C5B-AD08-92DF-2705F69E29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0BF9F-FA8F-4CB1-839A-D4536A9CACB4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93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ACBEB-A693-CDBC-2703-43CFFF67A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9703CD5-1ECD-E4C3-C169-71EAE6688C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081019-81F1-B1CE-969E-87ED18FE0D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A2F7B1-10C8-D752-7CE3-C0C24FDC6C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0BF9F-FA8F-4CB1-839A-D4536A9CACB4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34687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00E51-36D4-51C0-A9F2-507BC3DB7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075FFA-754B-624D-A4E7-539E86FE89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A55EABF-1646-5B9E-0777-B9022ABE67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4FDA4-ECB9-8679-88F2-8E288F61EB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0BF9F-FA8F-4CB1-839A-D4536A9CACB4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85071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C016F-66A7-7119-FABC-8CDF93586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4DACE20-3A5F-725F-0DA7-126F3A4718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7FBF67-88C2-2591-B757-96C9A27C84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Malgun Gothic"/>
                <a:cs typeface="Malgun Gothic"/>
              </a:rPr>
              <a:t>-- </a:t>
            </a:r>
            <a:r>
              <a:rPr lang="en-US" altLang="ko-KR" sz="1200" dirty="0" err="1">
                <a:latin typeface="Malgun Gothic"/>
                <a:cs typeface="Malgun Gothic"/>
              </a:rPr>
              <a:t>VehicleCollision</a:t>
            </a:r>
            <a:r>
              <a:rPr lang="en-US" altLang="ko-KR" sz="1200" dirty="0">
                <a:latin typeface="Malgun Gothic"/>
                <a:cs typeface="Malgun Gothic"/>
              </a:rPr>
              <a:t>::</a:t>
            </a:r>
            <a:r>
              <a:rPr lang="en-US" altLang="ko-KR" sz="1200" dirty="0" err="1">
                <a:latin typeface="Malgun Gothic"/>
                <a:cs typeface="Malgun Gothic"/>
              </a:rPr>
              <a:t>IsColliding</a:t>
            </a:r>
            <a:r>
              <a:rPr lang="en-US" altLang="ko-KR" sz="1200" dirty="0">
                <a:latin typeface="Malgun Gothic"/>
                <a:cs typeface="Malgun Gothic"/>
              </a:rPr>
              <a:t> benchmark --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Malgun Gothic"/>
                <a:cs typeface="Malgun Gothic"/>
              </a:rPr>
              <a:t>[bench] </a:t>
            </a:r>
            <a:r>
              <a:rPr lang="en-US" altLang="ko-KR" sz="1200" dirty="0" err="1">
                <a:latin typeface="Malgun Gothic"/>
                <a:cs typeface="Malgun Gothic"/>
              </a:rPr>
              <a:t>IsColliding</a:t>
            </a:r>
            <a:r>
              <a:rPr lang="en-US" altLang="ko-KR" sz="1200" dirty="0">
                <a:latin typeface="Malgun Gothic"/>
                <a:cs typeface="Malgun Gothic"/>
              </a:rPr>
              <a:t> obstacles=  1  iterations=2000000  total= 111.13ms  avg= 0.056us/call  hits=1953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Malgun Gothic"/>
                <a:cs typeface="Malgun Gothic"/>
              </a:rPr>
              <a:t>[bench] </a:t>
            </a:r>
            <a:r>
              <a:rPr lang="en-US" altLang="ko-KR" sz="1200" dirty="0" err="1">
                <a:latin typeface="Malgun Gothic"/>
                <a:cs typeface="Malgun Gothic"/>
              </a:rPr>
              <a:t>IsColliding</a:t>
            </a:r>
            <a:r>
              <a:rPr lang="en-US" altLang="ko-KR" sz="1200" dirty="0">
                <a:latin typeface="Malgun Gothic"/>
                <a:cs typeface="Malgun Gothic"/>
              </a:rPr>
              <a:t> obstacles=  6  iterations= 333333  total=  54.67ms  avg= 0.164us/call  hits=1901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Malgun Gothic"/>
                <a:cs typeface="Malgun Gothic"/>
              </a:rPr>
              <a:t>[bench] </a:t>
            </a:r>
            <a:r>
              <a:rPr lang="en-US" altLang="ko-KR" sz="1200" dirty="0" err="1">
                <a:latin typeface="Malgun Gothic"/>
                <a:cs typeface="Malgun Gothic"/>
              </a:rPr>
              <a:t>IsColliding</a:t>
            </a:r>
            <a:r>
              <a:rPr lang="en-US" altLang="ko-KR" sz="1200" dirty="0">
                <a:latin typeface="Malgun Gothic"/>
                <a:cs typeface="Malgun Gothic"/>
              </a:rPr>
              <a:t> obstacles= 20  iterations= 100000  total=  46.64ms  avg= 0.466us/call  hits=2027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Malgun Gothic"/>
                <a:cs typeface="Malgun Gothic"/>
              </a:rPr>
              <a:t>[bench] </a:t>
            </a:r>
            <a:r>
              <a:rPr lang="en-US" altLang="ko-KR" sz="1200" dirty="0" err="1">
                <a:latin typeface="Malgun Gothic"/>
                <a:cs typeface="Malgun Gothic"/>
              </a:rPr>
              <a:t>IsColliding</a:t>
            </a:r>
            <a:r>
              <a:rPr lang="en-US" altLang="ko-KR" sz="1200" dirty="0">
                <a:latin typeface="Malgun Gothic"/>
                <a:cs typeface="Malgun Gothic"/>
              </a:rPr>
              <a:t> obstacles= 50  iterations=  40000  total=  44.47ms  avg= 1.112us/call  hits=1999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Malgun Gothic"/>
                <a:cs typeface="Malgun Gothic"/>
              </a:rPr>
              <a:t>[bench] </a:t>
            </a:r>
            <a:r>
              <a:rPr lang="en-US" altLang="ko-KR" sz="1200" dirty="0" err="1">
                <a:latin typeface="Malgun Gothic"/>
                <a:cs typeface="Malgun Gothic"/>
              </a:rPr>
              <a:t>IsColliding</a:t>
            </a:r>
            <a:r>
              <a:rPr lang="en-US" altLang="ko-KR" sz="1200" dirty="0">
                <a:latin typeface="Malgun Gothic"/>
                <a:cs typeface="Malgun Gothic"/>
              </a:rPr>
              <a:t> obstacles=200  iterations=  10000  total=  42.02ms  avg= 4.202us/call  hits=1846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Malgun Gothic"/>
                <a:cs typeface="Malgun Gothic"/>
              </a:rPr>
              <a:t>[bench] </a:t>
            </a:r>
            <a:r>
              <a:rPr lang="en-US" altLang="ko-KR" sz="1200" dirty="0" err="1">
                <a:latin typeface="Malgun Gothic"/>
                <a:cs typeface="Malgun Gothic"/>
              </a:rPr>
              <a:t>IsColliding</a:t>
            </a:r>
            <a:r>
              <a:rPr lang="en-US" altLang="ko-KR" sz="1200" dirty="0">
                <a:latin typeface="Malgun Gothic"/>
                <a:cs typeface="Malgun Gothic"/>
              </a:rPr>
              <a:t> obstacles=500  iterations=   4000  total=  38.97ms  avg= 9.742us/call  hits=1576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sz="1200" dirty="0" err="1"/>
              <a:t>Bounding</a:t>
            </a:r>
            <a:r>
              <a:rPr lang="ko-KR" altLang="ko-KR" sz="1200" dirty="0"/>
              <a:t> </a:t>
            </a:r>
            <a:r>
              <a:rPr lang="ko-KR" altLang="ko-KR" sz="1200" dirty="0" err="1"/>
              <a:t>Circle</a:t>
            </a:r>
            <a:r>
              <a:rPr lang="en-US" altLang="ko-KR" sz="1200" dirty="0"/>
              <a:t> </a:t>
            </a:r>
            <a:r>
              <a:rPr lang="ko-KR" altLang="en-US" sz="1200" dirty="0"/>
              <a:t>우선 거르기</a:t>
            </a:r>
            <a:r>
              <a:rPr lang="en-US" altLang="ko-KR" sz="1200" dirty="0"/>
              <a:t>, </a:t>
            </a:r>
            <a:r>
              <a:rPr lang="ko-KR" altLang="en-US" sz="1200" dirty="0"/>
              <a:t>코드 최적화 후</a:t>
            </a:r>
            <a:endParaRPr lang="en-US" altLang="ko-KR" sz="1200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Malgun Gothic"/>
                <a:cs typeface="Malgun Gothic"/>
              </a:rPr>
              <a:t>[bench] </a:t>
            </a:r>
            <a:r>
              <a:rPr lang="en-US" altLang="ko-KR" sz="1200" dirty="0" err="1">
                <a:latin typeface="Malgun Gothic"/>
                <a:cs typeface="Malgun Gothic"/>
              </a:rPr>
              <a:t>IsColliding</a:t>
            </a:r>
            <a:r>
              <a:rPr lang="en-US" altLang="ko-KR" sz="1200" dirty="0">
                <a:latin typeface="Malgun Gothic"/>
                <a:cs typeface="Malgun Gothic"/>
              </a:rPr>
              <a:t> obstacles=  1  iterations=2000000  total=  74.19ms  avg= 0.037us/call  hits=1953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Malgun Gothic"/>
                <a:cs typeface="Malgun Gothic"/>
              </a:rPr>
              <a:t>[bench] </a:t>
            </a:r>
            <a:r>
              <a:rPr lang="en-US" altLang="ko-KR" sz="1200" dirty="0" err="1">
                <a:latin typeface="Malgun Gothic"/>
                <a:cs typeface="Malgun Gothic"/>
              </a:rPr>
              <a:t>IsColliding</a:t>
            </a:r>
            <a:r>
              <a:rPr lang="en-US" altLang="ko-KR" sz="1200" dirty="0">
                <a:latin typeface="Malgun Gothic"/>
                <a:cs typeface="Malgun Gothic"/>
              </a:rPr>
              <a:t> obstacles=  6  iterations= 333333  total=  18.95ms  avg= 0.057us/call  hits=1901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Malgun Gothic"/>
                <a:cs typeface="Malgun Gothic"/>
              </a:rPr>
              <a:t>[bench] </a:t>
            </a:r>
            <a:r>
              <a:rPr lang="en-US" altLang="ko-KR" sz="1200" dirty="0" err="1">
                <a:latin typeface="Malgun Gothic"/>
                <a:cs typeface="Malgun Gothic"/>
              </a:rPr>
              <a:t>IsColliding</a:t>
            </a:r>
            <a:r>
              <a:rPr lang="en-US" altLang="ko-KR" sz="1200" dirty="0">
                <a:latin typeface="Malgun Gothic"/>
                <a:cs typeface="Malgun Gothic"/>
              </a:rPr>
              <a:t> obstacles= 20  iterations= 100000  total=  10.30ms  avg= 0.103us/call  hits=2027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Malgun Gothic"/>
                <a:cs typeface="Malgun Gothic"/>
              </a:rPr>
              <a:t>[bench] </a:t>
            </a:r>
            <a:r>
              <a:rPr lang="en-US" altLang="ko-KR" sz="1200" dirty="0" err="1">
                <a:latin typeface="Malgun Gothic"/>
                <a:cs typeface="Malgun Gothic"/>
              </a:rPr>
              <a:t>IsColliding</a:t>
            </a:r>
            <a:r>
              <a:rPr lang="en-US" altLang="ko-KR" sz="1200" dirty="0">
                <a:latin typeface="Malgun Gothic"/>
                <a:cs typeface="Malgun Gothic"/>
              </a:rPr>
              <a:t> obstacles= 50  iterations=  40000  total=   8.07ms  avg= 0.202us/call  hits=1999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Malgun Gothic"/>
                <a:cs typeface="Malgun Gothic"/>
              </a:rPr>
              <a:t>[bench] </a:t>
            </a:r>
            <a:r>
              <a:rPr lang="en-US" altLang="ko-KR" sz="1200" dirty="0" err="1">
                <a:latin typeface="Malgun Gothic"/>
                <a:cs typeface="Malgun Gothic"/>
              </a:rPr>
              <a:t>IsColliding</a:t>
            </a:r>
            <a:r>
              <a:rPr lang="en-US" altLang="ko-KR" sz="1200" dirty="0">
                <a:latin typeface="Malgun Gothic"/>
                <a:cs typeface="Malgun Gothic"/>
              </a:rPr>
              <a:t> obstacles=200  iterations=  10000  total=   6.09ms  avg= 0.609us/call  hits=1846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Malgun Gothic"/>
                <a:cs typeface="Malgun Gothic"/>
              </a:rPr>
              <a:t>[bench] </a:t>
            </a:r>
            <a:r>
              <a:rPr lang="en-US" altLang="ko-KR" sz="1200" dirty="0" err="1">
                <a:latin typeface="Malgun Gothic"/>
                <a:cs typeface="Malgun Gothic"/>
              </a:rPr>
              <a:t>IsColliding</a:t>
            </a:r>
            <a:r>
              <a:rPr lang="en-US" altLang="ko-KR" sz="1200" dirty="0">
                <a:latin typeface="Malgun Gothic"/>
                <a:cs typeface="Malgun Gothic"/>
              </a:rPr>
              <a:t> obstacles=500  iterations=   4000  total=   5.30ms  avg= 1.325us/call  hits=1576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75EF84-17CC-4C41-1B45-6BE2F9599E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0BF9F-FA8F-4CB1-839A-D4536A9CACB4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83996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40BF9F-FA8F-4CB1-839A-D4536A9CACB4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46381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52932" y="2572334"/>
            <a:ext cx="6614795" cy="8489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7/29/2026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7/29/2026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7/29/2026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939" y="684403"/>
            <a:ext cx="6104255" cy="452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990725" y="2085975"/>
            <a:ext cx="8210550" cy="3333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52932" y="3695827"/>
            <a:ext cx="29629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CF3C1C"/>
                </a:solidFill>
                <a:latin typeface="Malgun Gothic"/>
                <a:cs typeface="Malgun Gothic"/>
              </a:rPr>
              <a:t>자동차</a:t>
            </a:r>
            <a:r>
              <a:rPr sz="2400" spc="5" dirty="0">
                <a:solidFill>
                  <a:srgbClr val="CF3C1C"/>
                </a:solidFill>
                <a:latin typeface="Malgun Gothic"/>
                <a:cs typeface="Malgun Gothic"/>
              </a:rPr>
              <a:t> </a:t>
            </a:r>
            <a:r>
              <a:rPr sz="2400" dirty="0">
                <a:solidFill>
                  <a:srgbClr val="CF3C1C"/>
                </a:solidFill>
                <a:latin typeface="Malgun Gothic"/>
                <a:cs typeface="Malgun Gothic"/>
              </a:rPr>
              <a:t>AI </a:t>
            </a:r>
            <a:r>
              <a:rPr sz="2400" spc="-10" dirty="0">
                <a:solidFill>
                  <a:srgbClr val="CF3C1C"/>
                </a:solidFill>
                <a:latin typeface="Malgun Gothic"/>
                <a:cs typeface="Malgun Gothic"/>
              </a:rPr>
              <a:t>시뮬레이션</a:t>
            </a:r>
            <a:endParaRPr sz="2400">
              <a:latin typeface="Malgun Gothic"/>
              <a:cs typeface="Malgun Gothic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5400" dirty="0">
                <a:solidFill>
                  <a:srgbClr val="393939"/>
                </a:solidFill>
              </a:rPr>
              <a:t>5</a:t>
            </a:r>
            <a:r>
              <a:rPr sz="5400" dirty="0">
                <a:solidFill>
                  <a:srgbClr val="393939"/>
                </a:solidFill>
              </a:rPr>
              <a:t>주차</a:t>
            </a:r>
            <a:r>
              <a:rPr sz="5400" spc="-10" dirty="0">
                <a:solidFill>
                  <a:srgbClr val="393939"/>
                </a:solidFill>
              </a:rPr>
              <a:t> </a:t>
            </a:r>
            <a:r>
              <a:rPr sz="5400" dirty="0">
                <a:solidFill>
                  <a:srgbClr val="393939"/>
                </a:solidFill>
              </a:rPr>
              <a:t>개발 진행</a:t>
            </a:r>
            <a:r>
              <a:rPr sz="5400" spc="-5" dirty="0">
                <a:solidFill>
                  <a:srgbClr val="393939"/>
                </a:solidFill>
              </a:rPr>
              <a:t> </a:t>
            </a:r>
            <a:r>
              <a:rPr sz="5400" spc="-25" dirty="0">
                <a:solidFill>
                  <a:srgbClr val="393939"/>
                </a:solidFill>
              </a:rPr>
              <a:t>보고</a:t>
            </a:r>
            <a:endParaRPr sz="5400" dirty="0"/>
          </a:p>
        </p:txBody>
      </p:sp>
      <p:sp>
        <p:nvSpPr>
          <p:cNvPr id="4" name="object 4"/>
          <p:cNvSpPr txBox="1"/>
          <p:nvPr/>
        </p:nvSpPr>
        <p:spPr>
          <a:xfrm>
            <a:off x="9659239" y="6299403"/>
            <a:ext cx="2057400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50" dirty="0">
                <a:latin typeface="Malgun Gothic"/>
                <a:cs typeface="Malgun Gothic"/>
              </a:rPr>
              <a:t>2026</a:t>
            </a:r>
            <a:r>
              <a:rPr sz="1050" spc="-10" dirty="0">
                <a:latin typeface="Malgun Gothic"/>
                <a:cs typeface="Malgun Gothic"/>
              </a:rPr>
              <a:t> </a:t>
            </a:r>
            <a:r>
              <a:rPr sz="1050" dirty="0">
                <a:latin typeface="Malgun Gothic"/>
                <a:cs typeface="Malgun Gothic"/>
              </a:rPr>
              <a:t>펄어비스</a:t>
            </a:r>
            <a:r>
              <a:rPr sz="1050" spc="-20" dirty="0">
                <a:latin typeface="Malgun Gothic"/>
                <a:cs typeface="Malgun Gothic"/>
              </a:rPr>
              <a:t> </a:t>
            </a:r>
            <a:r>
              <a:rPr sz="1050" dirty="0">
                <a:latin typeface="Malgun Gothic"/>
                <a:cs typeface="Malgun Gothic"/>
              </a:rPr>
              <a:t>여름</a:t>
            </a:r>
            <a:r>
              <a:rPr sz="1050" spc="-10" dirty="0">
                <a:latin typeface="Malgun Gothic"/>
                <a:cs typeface="Malgun Gothic"/>
              </a:rPr>
              <a:t> </a:t>
            </a:r>
            <a:r>
              <a:rPr sz="1050" dirty="0">
                <a:latin typeface="Malgun Gothic"/>
                <a:cs typeface="Malgun Gothic"/>
              </a:rPr>
              <a:t>인턴 | </a:t>
            </a:r>
            <a:r>
              <a:rPr sz="1050" spc="-25" dirty="0">
                <a:latin typeface="Malgun Gothic"/>
                <a:cs typeface="Malgun Gothic"/>
              </a:rPr>
              <a:t>박인영</a:t>
            </a:r>
            <a:endParaRPr sz="1050">
              <a:latin typeface="Malgun Gothic"/>
              <a:cs typeface="Malgun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78A6384-9146-4939-394F-B34ADED8A35A}"/>
              </a:ext>
            </a:extLst>
          </p:cNvPr>
          <p:cNvSpPr txBox="1">
            <a:spLocks/>
          </p:cNvSpPr>
          <p:nvPr/>
        </p:nvSpPr>
        <p:spPr>
          <a:xfrm>
            <a:off x="1028700" y="1520351"/>
            <a:ext cx="10134600" cy="305154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b="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목표 </a:t>
            </a:r>
            <a:r>
              <a:rPr lang="en-US" altLang="ko-KR" sz="1600" dirty="0">
                <a:latin typeface="+mn-ea"/>
              </a:rPr>
              <a:t>: </a:t>
            </a:r>
            <a:r>
              <a:rPr lang="ko-KR" altLang="en-US" sz="1600" b="1" dirty="0">
                <a:latin typeface="+mn-ea"/>
              </a:rPr>
              <a:t>다수 차량의 자연스러운 주행</a:t>
            </a:r>
            <a:endParaRPr lang="en-US" altLang="ko-KR" sz="1600" b="1" dirty="0"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이번주 작업</a:t>
            </a:r>
            <a:endParaRPr lang="en-US" altLang="ko-KR" sz="1600" dirty="0">
              <a:latin typeface="+mn-ea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n-ea"/>
              </a:rPr>
              <a:t>차간 안전거리 유지 및 속도조절 </a:t>
            </a:r>
            <a:r>
              <a:rPr lang="en-US" altLang="ko-KR" sz="1400" dirty="0">
                <a:latin typeface="+mn-ea"/>
              </a:rPr>
              <a:t>(IIDM + CAH)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Malgun Gothic"/>
                <a:cs typeface="Malgun Gothic"/>
              </a:rPr>
              <a:t>주변차를 </a:t>
            </a:r>
            <a:r>
              <a:rPr lang="ko-KR" altLang="en-US" sz="1400" dirty="0"/>
              <a:t>고려한 차선변경</a:t>
            </a:r>
            <a:r>
              <a:rPr lang="ko-KR" altLang="en-US" sz="1100" dirty="0">
                <a:latin typeface="Malgun Gothic"/>
                <a:cs typeface="Malgun Gothic"/>
              </a:rPr>
              <a:t> </a:t>
            </a:r>
            <a:r>
              <a:rPr lang="en-US" altLang="ko-KR" sz="1400" dirty="0">
                <a:latin typeface="Malgun Gothic"/>
                <a:cs typeface="Malgun Gothic"/>
              </a:rPr>
              <a:t>(MOBIL)</a:t>
            </a:r>
            <a:endParaRPr lang="en-US" altLang="ko-KR" sz="1600" dirty="0">
              <a:latin typeface="+mn-ea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n-ea"/>
              </a:rPr>
              <a:t>교차로 신호 준수</a:t>
            </a:r>
            <a:endParaRPr lang="en-US" altLang="ko-KR" sz="1400" dirty="0">
              <a:latin typeface="+mn-ea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n-ea"/>
              </a:rPr>
              <a:t>장애물 회피</a:t>
            </a:r>
            <a:endParaRPr lang="en-US" altLang="ko-KR" sz="1400" dirty="0"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</a:rPr>
              <a:t>추가 작업</a:t>
            </a:r>
            <a:endParaRPr lang="en-US" altLang="ko-KR" sz="1600" dirty="0">
              <a:latin typeface="+mn-ea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Malgun Gothic"/>
                <a:cs typeface="Malgun Gothic"/>
              </a:rPr>
              <a:t>OBB </a:t>
            </a:r>
            <a:r>
              <a:rPr lang="ko-KR" altLang="en-US" sz="1400" dirty="0">
                <a:latin typeface="Malgun Gothic"/>
                <a:cs typeface="Malgun Gothic"/>
              </a:rPr>
              <a:t>최적화</a:t>
            </a:r>
            <a:endParaRPr lang="en-US" altLang="ko-KR" sz="1400" dirty="0">
              <a:latin typeface="Malgun Gothic"/>
              <a:cs typeface="Malgun Gothic"/>
            </a:endParaRP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5</a:t>
            </a:r>
            <a:r>
              <a:rPr dirty="0"/>
              <a:t>주차</a:t>
            </a:r>
            <a:r>
              <a:rPr spc="-50" dirty="0"/>
              <a:t> </a:t>
            </a:r>
            <a:r>
              <a:rPr dirty="0"/>
              <a:t>진행</a:t>
            </a:r>
            <a:r>
              <a:rPr spc="-50" dirty="0"/>
              <a:t> </a:t>
            </a:r>
            <a:r>
              <a:rPr spc="-25" dirty="0"/>
              <a:t>현황</a:t>
            </a:r>
          </a:p>
        </p:txBody>
      </p:sp>
      <p:sp>
        <p:nvSpPr>
          <p:cNvPr id="4" name="object 4"/>
          <p:cNvSpPr/>
          <p:nvPr/>
        </p:nvSpPr>
        <p:spPr>
          <a:xfrm>
            <a:off x="838200" y="1311910"/>
            <a:ext cx="10515600" cy="0"/>
          </a:xfrm>
          <a:custGeom>
            <a:avLst/>
            <a:gdLst/>
            <a:ahLst/>
            <a:cxnLst/>
            <a:rect l="l" t="t" r="r" b="b"/>
            <a:pathLst>
              <a:path w="10515600">
                <a:moveTo>
                  <a:pt x="0" y="0"/>
                </a:moveTo>
                <a:lnTo>
                  <a:pt x="10515600" y="0"/>
                </a:lnTo>
              </a:path>
            </a:pathLst>
          </a:custGeom>
          <a:ln w="28575">
            <a:solidFill>
              <a:srgbClr val="CF3C1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0D5A9-EF30-C2FA-41BD-461188DE7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A17A1AB1-A449-3EA6-18E4-5B0E8D4093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5</a:t>
            </a:r>
            <a:r>
              <a:rPr dirty="0"/>
              <a:t>주차</a:t>
            </a:r>
            <a:r>
              <a:rPr spc="-50" dirty="0"/>
              <a:t> </a:t>
            </a:r>
            <a:r>
              <a:rPr dirty="0" err="1"/>
              <a:t>진행</a:t>
            </a:r>
            <a:r>
              <a:rPr spc="-50" dirty="0"/>
              <a:t> </a:t>
            </a:r>
            <a:r>
              <a:rPr spc="-25" dirty="0" err="1"/>
              <a:t>현황</a:t>
            </a:r>
            <a:r>
              <a:rPr lang="en-US" spc="-25" dirty="0"/>
              <a:t> – </a:t>
            </a:r>
            <a:r>
              <a:rPr lang="ko-KR" altLang="en-US" spc="-25" dirty="0"/>
              <a:t>결과 영상</a:t>
            </a:r>
            <a:endParaRPr spc="-25"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B8031128-2D36-341E-B655-4D9B46C691D6}"/>
              </a:ext>
            </a:extLst>
          </p:cNvPr>
          <p:cNvSpPr/>
          <p:nvPr/>
        </p:nvSpPr>
        <p:spPr>
          <a:xfrm>
            <a:off x="838200" y="1311910"/>
            <a:ext cx="10515600" cy="0"/>
          </a:xfrm>
          <a:custGeom>
            <a:avLst/>
            <a:gdLst/>
            <a:ahLst/>
            <a:cxnLst/>
            <a:rect l="l" t="t" r="r" b="b"/>
            <a:pathLst>
              <a:path w="10515600">
                <a:moveTo>
                  <a:pt x="0" y="0"/>
                </a:moveTo>
                <a:lnTo>
                  <a:pt x="10515600" y="0"/>
                </a:lnTo>
              </a:path>
            </a:pathLst>
          </a:custGeom>
          <a:ln w="28575">
            <a:solidFill>
              <a:srgbClr val="CF3C1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40527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3042C-DA12-125F-69ED-DA6BB20CA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FF55A566-7971-6A1F-76B0-E42C687A59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ko-KR" altLang="en-US" spc="-25" dirty="0"/>
              <a:t>작업내용 </a:t>
            </a:r>
            <a:r>
              <a:rPr lang="en-US" altLang="ko-KR" spc="-25" dirty="0"/>
              <a:t>– </a:t>
            </a:r>
            <a:r>
              <a:rPr lang="ko-KR" altLang="en-US" spc="-25" dirty="0"/>
              <a:t>대규모 수정</a:t>
            </a:r>
            <a:endParaRPr spc="-25"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F1C66AFD-E123-1EA0-16A7-4E57587C4F24}"/>
              </a:ext>
            </a:extLst>
          </p:cNvPr>
          <p:cNvSpPr/>
          <p:nvPr/>
        </p:nvSpPr>
        <p:spPr>
          <a:xfrm>
            <a:off x="838200" y="1311910"/>
            <a:ext cx="10515600" cy="0"/>
          </a:xfrm>
          <a:custGeom>
            <a:avLst/>
            <a:gdLst/>
            <a:ahLst/>
            <a:cxnLst/>
            <a:rect l="l" t="t" r="r" b="b"/>
            <a:pathLst>
              <a:path w="10515600">
                <a:moveTo>
                  <a:pt x="0" y="0"/>
                </a:moveTo>
                <a:lnTo>
                  <a:pt x="10515600" y="0"/>
                </a:lnTo>
              </a:path>
            </a:pathLst>
          </a:custGeom>
          <a:ln w="28575">
            <a:solidFill>
              <a:srgbClr val="CF3C1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9E32851F-5CA3-4F15-215B-873F94B2F368}"/>
              </a:ext>
            </a:extLst>
          </p:cNvPr>
          <p:cNvSpPr txBox="1">
            <a:spLocks/>
          </p:cNvSpPr>
          <p:nvPr/>
        </p:nvSpPr>
        <p:spPr>
          <a:xfrm>
            <a:off x="1028700" y="1520351"/>
            <a:ext cx="10134600" cy="3390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b="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  <a:cs typeface="Malgun Gothic"/>
              </a:rPr>
              <a:t>기존의 문제</a:t>
            </a:r>
            <a:endParaRPr lang="en-US" altLang="ko-KR" sz="1200" dirty="0">
              <a:latin typeface="Malgun Gothic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/>
              <a:t>차선에 종속적 </a:t>
            </a:r>
            <a:endParaRPr lang="en-US" altLang="ko-KR" sz="1400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/>
              <a:t>돌발 행동 표현 어려움</a:t>
            </a:r>
            <a:endParaRPr lang="en-US" altLang="ko-KR" sz="1400" dirty="0"/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  <a:cs typeface="Malgun Gothic"/>
              </a:rPr>
              <a:t>수정 방향</a:t>
            </a:r>
            <a:endParaRPr lang="en-US" altLang="ko-KR" sz="1200" dirty="0">
              <a:latin typeface="Malgun Gothic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/>
              <a:t>도로 데이터 표현 방식 변경</a:t>
            </a:r>
            <a:endParaRPr lang="en-US" altLang="ko-KR" sz="1400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/>
              <a:t>주행 행동 후보 평가 후 선택</a:t>
            </a:r>
            <a:endParaRPr lang="en-US" altLang="ko-KR" sz="1400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200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200" dirty="0">
              <a:latin typeface="Malgun Gothic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200" dirty="0">
              <a:latin typeface="Malgun Gothic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886532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E8BBD-F5EA-6314-3D4E-CBB0B614C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D855F8D9-4299-929F-85BC-69DA9DD1092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ko-KR" altLang="en-US" spc="-25" dirty="0"/>
              <a:t>작업내용 </a:t>
            </a:r>
            <a:r>
              <a:rPr lang="en-US" altLang="ko-KR" spc="-25" dirty="0"/>
              <a:t>– </a:t>
            </a:r>
            <a:r>
              <a:rPr lang="ko-KR" altLang="en-US" spc="-25" dirty="0"/>
              <a:t>대규모 수정</a:t>
            </a:r>
            <a:endParaRPr spc="-25"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E81EDFFC-82C8-F70B-E4D7-8249D22C4710}"/>
              </a:ext>
            </a:extLst>
          </p:cNvPr>
          <p:cNvSpPr/>
          <p:nvPr/>
        </p:nvSpPr>
        <p:spPr>
          <a:xfrm>
            <a:off x="838200" y="1311910"/>
            <a:ext cx="10515600" cy="0"/>
          </a:xfrm>
          <a:custGeom>
            <a:avLst/>
            <a:gdLst/>
            <a:ahLst/>
            <a:cxnLst/>
            <a:rect l="l" t="t" r="r" b="b"/>
            <a:pathLst>
              <a:path w="10515600">
                <a:moveTo>
                  <a:pt x="0" y="0"/>
                </a:moveTo>
                <a:lnTo>
                  <a:pt x="10515600" y="0"/>
                </a:lnTo>
              </a:path>
            </a:pathLst>
          </a:custGeom>
          <a:ln w="28575">
            <a:solidFill>
              <a:srgbClr val="CF3C1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5" name="object 6">
            <a:extLst>
              <a:ext uri="{FF2B5EF4-FFF2-40B4-BE49-F238E27FC236}">
                <a16:creationId xmlns:a16="http://schemas.microsoft.com/office/drawing/2014/main" id="{1CF40312-CA9E-73BD-CCFF-C6212F0699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6893554"/>
              </p:ext>
            </p:extLst>
          </p:nvPr>
        </p:nvGraphicFramePr>
        <p:xfrm>
          <a:off x="1371600" y="2085975"/>
          <a:ext cx="8785225" cy="33337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76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709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37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lang="ko-KR" altLang="en-US" sz="1200" spc="-25" dirty="0">
                          <a:latin typeface="Malgun Gothic"/>
                          <a:cs typeface="Malgun Gothic"/>
                        </a:rPr>
                        <a:t>기능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lang="ko-KR" altLang="en-US" sz="1200" spc="-25" dirty="0" err="1">
                          <a:latin typeface="Malgun Gothic"/>
                          <a:cs typeface="Malgun Gothic"/>
                        </a:rPr>
                        <a:t>변경전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lang="ko-KR" altLang="en-US" sz="1200" spc="-25" dirty="0" err="1">
                          <a:latin typeface="Malgun Gothic"/>
                          <a:cs typeface="Malgun Gothic"/>
                        </a:rPr>
                        <a:t>변경후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lang="ko-KR" altLang="en-US" sz="1200" spc="-25" dirty="0">
                          <a:latin typeface="Malgun Gothic"/>
                          <a:cs typeface="Malgun Gothic"/>
                        </a:rPr>
                        <a:t>가속도 제어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lang="en-US" altLang="ko-KR" sz="1200" b="1" spc="-20" dirty="0">
                          <a:latin typeface="Malgun Gothic"/>
                          <a:cs typeface="Malgun Gothic"/>
                        </a:rPr>
                        <a:t>IDM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lang="ko-KR" altLang="en-US" sz="1200" b="1" dirty="0">
                          <a:latin typeface="Malgun Gothic"/>
                          <a:cs typeface="Malgun Gothic"/>
                        </a:rPr>
                        <a:t>앞차 가속도 </a:t>
                      </a:r>
                      <a:r>
                        <a:rPr lang="ko-KR" altLang="en-US" sz="1200" b="1" dirty="0" err="1">
                          <a:latin typeface="Malgun Gothic"/>
                          <a:cs typeface="Malgun Gothic"/>
                        </a:rPr>
                        <a:t>피드포워드</a:t>
                      </a:r>
                      <a:r>
                        <a:rPr lang="ko-KR" altLang="en-US" sz="1200" b="1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lang="en-US" altLang="ko-KR" sz="1200" b="1" dirty="0">
                          <a:latin typeface="Malgun Gothic"/>
                          <a:cs typeface="Malgun Gothic"/>
                        </a:rPr>
                        <a:t>+ </a:t>
                      </a:r>
                      <a:r>
                        <a:rPr lang="ko-KR" altLang="en-US" sz="1200" b="1" dirty="0">
                          <a:latin typeface="Malgun Gothic"/>
                          <a:cs typeface="Malgun Gothic"/>
                        </a:rPr>
                        <a:t>플랜 속도 피드백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lang="ko-KR" altLang="en-US" sz="1200" spc="-25" dirty="0">
                          <a:latin typeface="Malgun Gothic"/>
                          <a:cs typeface="Malgun Gothic"/>
                        </a:rPr>
                        <a:t>차선 변경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lang="en-US" sz="1200" b="1" dirty="0">
                          <a:latin typeface="Malgun Gothic"/>
                          <a:cs typeface="Malgun Gothic"/>
                        </a:rPr>
                        <a:t>MOBIL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b="1" spc="-20" dirty="0">
                          <a:latin typeface="Malgun Gothic"/>
                          <a:cs typeface="Malgun Gothic"/>
                        </a:rPr>
                        <a:t>BT,</a:t>
                      </a:r>
                      <a:r>
                        <a:rPr sz="1200" b="1" spc="-3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스플라인</a:t>
                      </a:r>
                      <a:r>
                        <a:rPr sz="1200" b="1" spc="-4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그래프,</a:t>
                      </a:r>
                      <a:r>
                        <a:rPr sz="1200" b="1" spc="-4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A*,</a:t>
                      </a:r>
                      <a:r>
                        <a:rPr sz="1200" b="1" spc="-3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PurePursuit</a:t>
                      </a:r>
                      <a:r>
                        <a:rPr sz="1200" b="1" spc="-4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+</a:t>
                      </a:r>
                      <a:r>
                        <a:rPr sz="1200" b="1" spc="-4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PID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lang="ko-KR" altLang="en-US" sz="1200" dirty="0">
                          <a:latin typeface="Malgun Gothic"/>
                          <a:cs typeface="Malgun Gothic"/>
                        </a:rPr>
                        <a:t>안전거리 유지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lang="en-US" altLang="ko-KR" sz="1200" b="1" spc="-20" dirty="0">
                          <a:latin typeface="Malgun Gothic"/>
                          <a:cs typeface="Malgun Gothic"/>
                        </a:rPr>
                        <a:t>IDM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lang="en-US" sz="1200" b="1" dirty="0">
                          <a:latin typeface="Malgun Gothic"/>
                          <a:cs typeface="Malgun Gothic"/>
                        </a:rPr>
                        <a:t>Reeds-Shepp, Hybrid A*</a:t>
                      </a:r>
                      <a:endParaRPr sz="1200" b="1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lang="ko-KR" altLang="en-US" sz="1200" spc="-25" dirty="0">
                          <a:latin typeface="Malgun Gothic"/>
                          <a:cs typeface="Malgun Gothic"/>
                        </a:rPr>
                        <a:t>신호 준수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lang="en-US" sz="1200" b="1" dirty="0">
                          <a:latin typeface="Malgun Gothic"/>
                          <a:cs typeface="Malgun Gothic"/>
                        </a:rPr>
                        <a:t>IDM </a:t>
                      </a:r>
                      <a:r>
                        <a:rPr lang="ko-KR" altLang="en-US" sz="1200" b="1" dirty="0">
                          <a:latin typeface="Malgun Gothic"/>
                          <a:cs typeface="Malgun Gothic"/>
                        </a:rPr>
                        <a:t>가상 장애물 추가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lang="en-US" sz="1200" b="1" spc="-20" dirty="0">
                          <a:latin typeface="Malgun Gothic"/>
                          <a:cs typeface="Malgun Gothic"/>
                        </a:rPr>
                        <a:t>IDM, MOBIL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lang="ko-KR" altLang="en-US" sz="1200" spc="-25" dirty="0">
                          <a:latin typeface="Malgun Gothic"/>
                          <a:cs typeface="Malgun Gothic"/>
                        </a:rPr>
                        <a:t>추월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lang="en-US" altLang="ko-KR" sz="1200" b="1" dirty="0">
                          <a:latin typeface="Malgun Gothic"/>
                          <a:cs typeface="Malgun Gothic"/>
                        </a:rPr>
                        <a:t>-</a:t>
                      </a:r>
                      <a:endParaRPr lang="ko-KR" altLang="en-US"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endParaRPr sz="1200" b="1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lang="ko-KR" altLang="en-US" sz="1200" spc="-25" dirty="0">
                          <a:latin typeface="Malgun Gothic"/>
                          <a:cs typeface="Malgun Gothic"/>
                        </a:rPr>
                        <a:t>도로 합류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27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72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latin typeface="Malgun Gothic"/>
                          <a:cs typeface="Malgun Gothic"/>
                        </a:rPr>
                        <a:t>IDM </a:t>
                      </a:r>
                      <a:r>
                        <a:rPr lang="ko-KR" altLang="en-US" sz="1200" b="1" dirty="0">
                          <a:latin typeface="Malgun Gothic"/>
                          <a:cs typeface="Malgun Gothic"/>
                        </a:rPr>
                        <a:t>가상 장애물 추가 </a:t>
                      </a:r>
                      <a:r>
                        <a:rPr lang="en-US" altLang="ko-KR" sz="1200" b="1" dirty="0">
                          <a:latin typeface="Malgun Gothic"/>
                          <a:cs typeface="Malgun Gothic"/>
                        </a:rPr>
                        <a:t>+ MOBIL</a:t>
                      </a:r>
                      <a:endParaRPr lang="ko-KR" altLang="en-US"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파라미터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튜닝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lang="ko-KR" altLang="en-US" sz="1200" spc="-25" dirty="0">
                          <a:latin typeface="Malgun Gothic"/>
                          <a:cs typeface="Malgun Gothic"/>
                        </a:rPr>
                        <a:t>장애물 회피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lang="en-US" sz="1200" b="1" dirty="0">
                          <a:latin typeface="Malgun Gothic"/>
                          <a:cs typeface="Malgun Gothic"/>
                        </a:rPr>
                        <a:t>-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공간</a:t>
                      </a:r>
                      <a:r>
                        <a:rPr sz="1200" b="1" spc="-3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분할,</a:t>
                      </a:r>
                      <a:r>
                        <a:rPr sz="1200" b="1" spc="-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AI/렌더링</a:t>
                      </a:r>
                      <a:r>
                        <a:rPr sz="1200" b="1" spc="-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LOD,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 ECS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5843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DC2F8-1AB2-BEB3-2792-84548B45F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54132864-A5EB-2D1B-68CD-F46B1FA12C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ko-KR" altLang="en-US" spc="-25" dirty="0"/>
              <a:t>작업내용 </a:t>
            </a:r>
            <a:r>
              <a:rPr lang="en-US" altLang="ko-KR" spc="-25" dirty="0"/>
              <a:t>– </a:t>
            </a:r>
            <a:r>
              <a:rPr lang="ko-KR" altLang="en-US" spc="-25" dirty="0"/>
              <a:t>도로 데이터 변경</a:t>
            </a:r>
            <a:endParaRPr spc="-25"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CE20E845-1A36-1E17-1AF3-914B5B2DCA99}"/>
              </a:ext>
            </a:extLst>
          </p:cNvPr>
          <p:cNvSpPr/>
          <p:nvPr/>
        </p:nvSpPr>
        <p:spPr>
          <a:xfrm>
            <a:off x="838200" y="1311910"/>
            <a:ext cx="10515600" cy="0"/>
          </a:xfrm>
          <a:custGeom>
            <a:avLst/>
            <a:gdLst/>
            <a:ahLst/>
            <a:cxnLst/>
            <a:rect l="l" t="t" r="r" b="b"/>
            <a:pathLst>
              <a:path w="10515600">
                <a:moveTo>
                  <a:pt x="0" y="0"/>
                </a:moveTo>
                <a:lnTo>
                  <a:pt x="10515600" y="0"/>
                </a:lnTo>
              </a:path>
            </a:pathLst>
          </a:custGeom>
          <a:ln w="28575">
            <a:solidFill>
              <a:srgbClr val="CF3C1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657723E-4F33-B27C-A034-63B60427F1BC}"/>
              </a:ext>
            </a:extLst>
          </p:cNvPr>
          <p:cNvSpPr txBox="1">
            <a:spLocks/>
          </p:cNvSpPr>
          <p:nvPr/>
        </p:nvSpPr>
        <p:spPr>
          <a:xfrm>
            <a:off x="1028700" y="1520351"/>
            <a:ext cx="10134600" cy="3390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b="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  <a:cs typeface="Malgun Gothic"/>
              </a:rPr>
              <a:t>기존 도로 데이터 구조</a:t>
            </a:r>
            <a:endParaRPr lang="en-US" altLang="ko-KR" sz="1200" dirty="0">
              <a:latin typeface="Malgun Gothic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Road : </a:t>
            </a:r>
            <a:r>
              <a:rPr lang="ko-KR" altLang="en-US" sz="1400" dirty="0"/>
              <a:t>메타 데이터 컨테이너 </a:t>
            </a:r>
            <a:r>
              <a:rPr lang="en-US" altLang="ko-KR" sz="1400" dirty="0"/>
              <a:t>(</a:t>
            </a:r>
            <a:r>
              <a:rPr lang="ko-KR" altLang="en-US" sz="1400" dirty="0"/>
              <a:t>제한속도 등</a:t>
            </a:r>
            <a:r>
              <a:rPr lang="en-US" altLang="ko-KR" sz="1400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Lane : </a:t>
            </a:r>
            <a:r>
              <a:rPr lang="ko-KR" altLang="en-US" sz="1400" dirty="0"/>
              <a:t>각각 독립된 레인</a:t>
            </a:r>
            <a:r>
              <a:rPr lang="en-US" altLang="ko-KR" sz="1400" dirty="0"/>
              <a:t>, </a:t>
            </a:r>
            <a:r>
              <a:rPr lang="ko-KR" altLang="en-US" sz="1400" dirty="0"/>
              <a:t>같은 방향 옆차선만 </a:t>
            </a:r>
            <a:r>
              <a:rPr lang="en-US" altLang="ko-KR" sz="1400" dirty="0"/>
              <a:t>left,</a:t>
            </a:r>
            <a:r>
              <a:rPr lang="ko-KR" altLang="en-US" sz="1400" dirty="0"/>
              <a:t> </a:t>
            </a:r>
            <a:r>
              <a:rPr lang="en-US" altLang="ko-KR" sz="1400" dirty="0"/>
              <a:t>right</a:t>
            </a:r>
            <a:r>
              <a:rPr lang="ko-KR" altLang="en-US" sz="1400" dirty="0"/>
              <a:t>로 연결되어 있음</a:t>
            </a:r>
            <a:r>
              <a:rPr lang="en-US" altLang="ko-KR" sz="1400" dirty="0"/>
              <a:t>, Road ID</a:t>
            </a:r>
            <a:r>
              <a:rPr lang="ko-KR" altLang="en-US" sz="1400" dirty="0"/>
              <a:t> 로 메타데이터 참조</a:t>
            </a:r>
            <a:endParaRPr lang="en-US" altLang="ko-KR" sz="1400" dirty="0"/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  <a:cs typeface="Malgun Gothic"/>
              </a:rPr>
              <a:t>변경 후 도로 데이터 구조</a:t>
            </a:r>
            <a:endParaRPr lang="en-US" altLang="ko-KR" sz="1200" dirty="0">
              <a:latin typeface="Malgun Gothic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Road : </a:t>
            </a:r>
            <a:r>
              <a:rPr lang="ko-KR" altLang="en-US" sz="1400" dirty="0"/>
              <a:t>중심선</a:t>
            </a:r>
            <a:r>
              <a:rPr lang="en-US" altLang="ko-KR" sz="1400" dirty="0"/>
              <a:t>, </a:t>
            </a:r>
            <a:r>
              <a:rPr lang="ko-KR" altLang="en-US" sz="1400" dirty="0"/>
              <a:t>위치</a:t>
            </a:r>
            <a:endParaRPr lang="en-US" altLang="ko-KR" sz="1400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Lane  : Road</a:t>
            </a:r>
            <a:r>
              <a:rPr lang="ko-KR" altLang="en-US" sz="1400" dirty="0"/>
              <a:t>의 중심선의 </a:t>
            </a:r>
            <a:r>
              <a:rPr lang="en-US" altLang="ko-KR" sz="1400" dirty="0"/>
              <a:t>(</a:t>
            </a:r>
            <a:r>
              <a:rPr lang="ko-KR" altLang="en-US" sz="1400" dirty="0"/>
              <a:t>횡방향 오프셋</a:t>
            </a:r>
            <a:r>
              <a:rPr lang="en-US" altLang="ko-KR" sz="1400" dirty="0"/>
              <a:t>, </a:t>
            </a:r>
            <a:r>
              <a:rPr lang="ko-KR" altLang="en-US" sz="1400" dirty="0"/>
              <a:t>진행방향</a:t>
            </a:r>
            <a:r>
              <a:rPr lang="en-US" altLang="ko-KR" sz="1400" dirty="0"/>
              <a:t>, </a:t>
            </a:r>
            <a:r>
              <a:rPr lang="ko-KR" altLang="en-US" sz="1400" dirty="0"/>
              <a:t>타입</a:t>
            </a:r>
            <a:r>
              <a:rPr lang="en-US" altLang="ko-KR" sz="1400" dirty="0"/>
              <a:t>) </a:t>
            </a:r>
            <a:r>
              <a:rPr lang="ko-KR" altLang="en-US" sz="1400" dirty="0"/>
              <a:t>으로 표현됨</a:t>
            </a:r>
            <a:endParaRPr lang="en-US" altLang="ko-KR" sz="1400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200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200" dirty="0">
              <a:latin typeface="Malgun Gothic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200" dirty="0">
              <a:latin typeface="Malgun Gothic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latin typeface="+mn-ea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1D19127-CAB4-EDB9-AF04-485D9800B1C3}"/>
              </a:ext>
            </a:extLst>
          </p:cNvPr>
          <p:cNvSpPr/>
          <p:nvPr/>
        </p:nvSpPr>
        <p:spPr>
          <a:xfrm>
            <a:off x="1295400" y="4191000"/>
            <a:ext cx="4038600" cy="23622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A1BC53B9-6F9F-F793-DB07-7C79BF30EEB0}"/>
              </a:ext>
            </a:extLst>
          </p:cNvPr>
          <p:cNvCxnSpPr>
            <a:stCxn id="3" idx="0"/>
            <a:endCxn id="3" idx="2"/>
          </p:cNvCxnSpPr>
          <p:nvPr/>
        </p:nvCxnSpPr>
        <p:spPr>
          <a:xfrm>
            <a:off x="3314700" y="4191000"/>
            <a:ext cx="0" cy="2362200"/>
          </a:xfrm>
          <a:prstGeom prst="line">
            <a:avLst/>
          </a:prstGeom>
          <a:ln w="762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7225333A-5812-2089-8CC4-F5D448C6A529}"/>
              </a:ext>
            </a:extLst>
          </p:cNvPr>
          <p:cNvCxnSpPr/>
          <p:nvPr/>
        </p:nvCxnSpPr>
        <p:spPr>
          <a:xfrm>
            <a:off x="4267200" y="4191000"/>
            <a:ext cx="0" cy="2362200"/>
          </a:xfrm>
          <a:prstGeom prst="line">
            <a:avLst/>
          </a:prstGeom>
          <a:ln w="19050" cap="flat" cmpd="sng" algn="ctr">
            <a:solidFill>
              <a:schemeClr val="bg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1A5F782-DF87-E9A5-88E2-36420A72DD56}"/>
              </a:ext>
            </a:extLst>
          </p:cNvPr>
          <p:cNvCxnSpPr/>
          <p:nvPr/>
        </p:nvCxnSpPr>
        <p:spPr>
          <a:xfrm>
            <a:off x="2286000" y="4191000"/>
            <a:ext cx="0" cy="2362200"/>
          </a:xfrm>
          <a:prstGeom prst="line">
            <a:avLst/>
          </a:prstGeom>
          <a:ln w="19050" cap="flat" cmpd="sng" algn="ctr">
            <a:solidFill>
              <a:schemeClr val="bg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52B0D128-87E0-738F-5BC3-4F3D65142E1A}"/>
              </a:ext>
            </a:extLst>
          </p:cNvPr>
          <p:cNvCxnSpPr>
            <a:cxnSpLocks/>
          </p:cNvCxnSpPr>
          <p:nvPr/>
        </p:nvCxnSpPr>
        <p:spPr>
          <a:xfrm>
            <a:off x="2819400" y="4495800"/>
            <a:ext cx="0" cy="16764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3C0279AB-F252-70D3-E21C-6106EA0BF504}"/>
              </a:ext>
            </a:extLst>
          </p:cNvPr>
          <p:cNvCxnSpPr/>
          <p:nvPr/>
        </p:nvCxnSpPr>
        <p:spPr>
          <a:xfrm flipV="1">
            <a:off x="3810000" y="4495800"/>
            <a:ext cx="0" cy="16764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A856E99F-6E0B-A033-D809-F704FF78D67D}"/>
              </a:ext>
            </a:extLst>
          </p:cNvPr>
          <p:cNvCxnSpPr/>
          <p:nvPr/>
        </p:nvCxnSpPr>
        <p:spPr>
          <a:xfrm flipV="1">
            <a:off x="4876800" y="4495800"/>
            <a:ext cx="0" cy="16764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698A359F-0E59-F201-61F8-20623F718CE9}"/>
              </a:ext>
            </a:extLst>
          </p:cNvPr>
          <p:cNvCxnSpPr>
            <a:cxnSpLocks/>
          </p:cNvCxnSpPr>
          <p:nvPr/>
        </p:nvCxnSpPr>
        <p:spPr>
          <a:xfrm>
            <a:off x="1752600" y="4495800"/>
            <a:ext cx="0" cy="16764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E431BADA-B0F4-BBC2-BA36-70074067CD66}"/>
              </a:ext>
            </a:extLst>
          </p:cNvPr>
          <p:cNvSpPr/>
          <p:nvPr/>
        </p:nvSpPr>
        <p:spPr>
          <a:xfrm>
            <a:off x="6629400" y="4156549"/>
            <a:ext cx="4038600" cy="23622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C6F335AC-6206-2A1B-F036-621E1D8E9995}"/>
              </a:ext>
            </a:extLst>
          </p:cNvPr>
          <p:cNvCxnSpPr>
            <a:stCxn id="30" idx="0"/>
            <a:endCxn id="30" idx="2"/>
          </p:cNvCxnSpPr>
          <p:nvPr/>
        </p:nvCxnSpPr>
        <p:spPr>
          <a:xfrm>
            <a:off x="8648700" y="4156549"/>
            <a:ext cx="0" cy="2362200"/>
          </a:xfrm>
          <a:prstGeom prst="line">
            <a:avLst/>
          </a:prstGeom>
          <a:ln w="762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EDF90958-EE93-5BF9-DFD0-77AE79CF9CFC}"/>
              </a:ext>
            </a:extLst>
          </p:cNvPr>
          <p:cNvCxnSpPr/>
          <p:nvPr/>
        </p:nvCxnSpPr>
        <p:spPr>
          <a:xfrm>
            <a:off x="9601200" y="4156549"/>
            <a:ext cx="0" cy="2362200"/>
          </a:xfrm>
          <a:prstGeom prst="line">
            <a:avLst/>
          </a:prstGeom>
          <a:ln w="19050" cap="flat" cmpd="sng" algn="ctr">
            <a:solidFill>
              <a:schemeClr val="bg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D420580B-C772-A74B-4CBB-FBF6B74F3DE6}"/>
              </a:ext>
            </a:extLst>
          </p:cNvPr>
          <p:cNvCxnSpPr/>
          <p:nvPr/>
        </p:nvCxnSpPr>
        <p:spPr>
          <a:xfrm>
            <a:off x="7620000" y="4156549"/>
            <a:ext cx="0" cy="2362200"/>
          </a:xfrm>
          <a:prstGeom prst="line">
            <a:avLst/>
          </a:prstGeom>
          <a:ln w="19050" cap="flat" cmpd="sng" algn="ctr">
            <a:solidFill>
              <a:schemeClr val="bg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29ADC643-DC96-CFE3-AFED-3B4465C605BC}"/>
              </a:ext>
            </a:extLst>
          </p:cNvPr>
          <p:cNvCxnSpPr>
            <a:cxnSpLocks/>
          </p:cNvCxnSpPr>
          <p:nvPr/>
        </p:nvCxnSpPr>
        <p:spPr>
          <a:xfrm flipV="1">
            <a:off x="8648700" y="4267200"/>
            <a:ext cx="0" cy="216805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D0D8E965-F3EB-EC2D-5A5D-23D4E214ADA1}"/>
              </a:ext>
            </a:extLst>
          </p:cNvPr>
          <p:cNvSpPr txBox="1"/>
          <p:nvPr/>
        </p:nvSpPr>
        <p:spPr>
          <a:xfrm>
            <a:off x="8889508" y="5118850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+1</a:t>
            </a:r>
            <a:endParaRPr lang="ko-KR" alt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97EB946-60D8-454D-8B87-4882050CD509}"/>
              </a:ext>
            </a:extLst>
          </p:cNvPr>
          <p:cNvSpPr txBox="1"/>
          <p:nvPr/>
        </p:nvSpPr>
        <p:spPr>
          <a:xfrm>
            <a:off x="9944447" y="5118850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+2</a:t>
            </a:r>
            <a:endParaRPr lang="ko-KR" alt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46FA5E5-CA1A-3809-4FD3-C6B84DB12B2F}"/>
              </a:ext>
            </a:extLst>
          </p:cNvPr>
          <p:cNvSpPr txBox="1"/>
          <p:nvPr/>
        </p:nvSpPr>
        <p:spPr>
          <a:xfrm>
            <a:off x="7900019" y="5118850"/>
            <a:ext cx="389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-1</a:t>
            </a:r>
            <a:endParaRPr lang="ko-KR" alt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2CFF4A4-893E-8D2D-F79D-89F8B5DA8E08}"/>
              </a:ext>
            </a:extLst>
          </p:cNvPr>
          <p:cNvSpPr txBox="1"/>
          <p:nvPr/>
        </p:nvSpPr>
        <p:spPr>
          <a:xfrm>
            <a:off x="6967875" y="5118850"/>
            <a:ext cx="389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-2</a:t>
            </a:r>
            <a:endParaRPr lang="ko-KR" altLang="en-US" dirty="0"/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978EE104-D232-8881-3A1E-29244A09BDF1}"/>
              </a:ext>
            </a:extLst>
          </p:cNvPr>
          <p:cNvCxnSpPr>
            <a:cxnSpLocks/>
          </p:cNvCxnSpPr>
          <p:nvPr/>
        </p:nvCxnSpPr>
        <p:spPr>
          <a:xfrm>
            <a:off x="4038600" y="5303516"/>
            <a:ext cx="457200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10A93A1D-6B62-3428-70FD-565F869141DB}"/>
              </a:ext>
            </a:extLst>
          </p:cNvPr>
          <p:cNvCxnSpPr>
            <a:cxnSpLocks/>
          </p:cNvCxnSpPr>
          <p:nvPr/>
        </p:nvCxnSpPr>
        <p:spPr>
          <a:xfrm>
            <a:off x="2029287" y="5257800"/>
            <a:ext cx="457200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0D8B2604-C7EC-E9DE-9F98-6D94B9C425E9}"/>
              </a:ext>
            </a:extLst>
          </p:cNvPr>
          <p:cNvSpPr txBox="1"/>
          <p:nvPr/>
        </p:nvSpPr>
        <p:spPr>
          <a:xfrm>
            <a:off x="2969894" y="3854003"/>
            <a:ext cx="6896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변경 전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A6E98F4-E600-275E-D9E3-5C8D7F8D5DE4}"/>
              </a:ext>
            </a:extLst>
          </p:cNvPr>
          <p:cNvSpPr txBox="1"/>
          <p:nvPr/>
        </p:nvSpPr>
        <p:spPr>
          <a:xfrm>
            <a:off x="8303894" y="3824224"/>
            <a:ext cx="6896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변경 후</a:t>
            </a:r>
          </a:p>
        </p:txBody>
      </p:sp>
    </p:spTree>
    <p:extLst>
      <p:ext uri="{BB962C8B-B14F-4D97-AF65-F5344CB8AC3E}">
        <p14:creationId xmlns:p14="http://schemas.microsoft.com/office/powerpoint/2010/main" val="42345439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57772-FDD2-3570-7157-31053269D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91594C04-0CA3-9FBF-7266-6F8627D52B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ko-KR" altLang="en-US" spc="-25" dirty="0"/>
              <a:t>작업내용 </a:t>
            </a:r>
            <a:r>
              <a:rPr lang="en-US" altLang="ko-KR" spc="-25" dirty="0"/>
              <a:t>– </a:t>
            </a:r>
            <a:r>
              <a:rPr lang="ko-KR" altLang="en-US" spc="-25" dirty="0"/>
              <a:t>주행 후보 평가</a:t>
            </a:r>
            <a:endParaRPr spc="-25"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E88DB417-A4C3-199C-02FB-D500EBC06579}"/>
              </a:ext>
            </a:extLst>
          </p:cNvPr>
          <p:cNvSpPr/>
          <p:nvPr/>
        </p:nvSpPr>
        <p:spPr>
          <a:xfrm>
            <a:off x="838200" y="1311910"/>
            <a:ext cx="10515600" cy="0"/>
          </a:xfrm>
          <a:custGeom>
            <a:avLst/>
            <a:gdLst/>
            <a:ahLst/>
            <a:cxnLst/>
            <a:rect l="l" t="t" r="r" b="b"/>
            <a:pathLst>
              <a:path w="10515600">
                <a:moveTo>
                  <a:pt x="0" y="0"/>
                </a:moveTo>
                <a:lnTo>
                  <a:pt x="10515600" y="0"/>
                </a:lnTo>
              </a:path>
            </a:pathLst>
          </a:custGeom>
          <a:ln w="28575">
            <a:solidFill>
              <a:srgbClr val="CF3C1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33483EB1-7DE0-8F90-61E4-E67AB508B624}"/>
              </a:ext>
            </a:extLst>
          </p:cNvPr>
          <p:cNvSpPr txBox="1">
            <a:spLocks/>
          </p:cNvSpPr>
          <p:nvPr/>
        </p:nvSpPr>
        <p:spPr>
          <a:xfrm>
            <a:off x="1028700" y="1520351"/>
            <a:ext cx="10134600" cy="225132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b="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+mn-ea"/>
                <a:cs typeface="Malgun Gothic"/>
              </a:rPr>
              <a:t>기존 도로 데이터 구조</a:t>
            </a:r>
            <a:endParaRPr lang="en-US" altLang="ko-KR" sz="1200" dirty="0">
              <a:latin typeface="Malgun Gothic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Road : </a:t>
            </a:r>
            <a:r>
              <a:rPr lang="ko-KR" altLang="en-US" sz="1400" dirty="0"/>
              <a:t>메타 데이터 컨테이너 </a:t>
            </a:r>
            <a:r>
              <a:rPr lang="en-US" altLang="ko-KR" sz="1400" dirty="0"/>
              <a:t>(</a:t>
            </a:r>
            <a:r>
              <a:rPr lang="ko-KR" altLang="en-US" sz="1400" dirty="0"/>
              <a:t>제한속도 등</a:t>
            </a:r>
            <a:r>
              <a:rPr lang="en-US" altLang="ko-KR" sz="1400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Lane : </a:t>
            </a:r>
            <a:r>
              <a:rPr lang="ko-KR" altLang="en-US" sz="1400" dirty="0"/>
              <a:t>각각 독립된 레인</a:t>
            </a:r>
            <a:r>
              <a:rPr lang="en-US" altLang="ko-KR" sz="1400" dirty="0"/>
              <a:t>, </a:t>
            </a:r>
            <a:r>
              <a:rPr lang="ko-KR" altLang="en-US" sz="1400" dirty="0"/>
              <a:t>같은 방향 옆차선만 </a:t>
            </a:r>
            <a:r>
              <a:rPr lang="en-US" altLang="ko-KR" sz="1400" dirty="0"/>
              <a:t>left,</a:t>
            </a:r>
            <a:r>
              <a:rPr lang="ko-KR" altLang="en-US" sz="1400" dirty="0"/>
              <a:t> </a:t>
            </a:r>
            <a:r>
              <a:rPr lang="en-US" altLang="ko-KR" sz="1400" dirty="0"/>
              <a:t>right</a:t>
            </a:r>
            <a:r>
              <a:rPr lang="ko-KR" altLang="en-US" sz="1400" dirty="0"/>
              <a:t>로 연결되어 있음</a:t>
            </a:r>
            <a:endParaRPr lang="en-US" altLang="ko-KR" sz="1400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200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200" dirty="0">
              <a:latin typeface="Malgun Gothic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200" dirty="0">
              <a:latin typeface="Malgun Gothic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34478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E33E3-BA7F-D9C2-2FCC-1BA5DBF31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2ADBBE49-2AB5-68D6-A5EA-FC46494F41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ko-KR" altLang="en-US" spc="-25" dirty="0"/>
              <a:t>추가 작업 </a:t>
            </a:r>
            <a:r>
              <a:rPr lang="en-US" altLang="ko-KR" spc="-25" dirty="0"/>
              <a:t>– </a:t>
            </a:r>
            <a:r>
              <a:rPr lang="ko-KR" altLang="en-US" spc="-25" dirty="0"/>
              <a:t>최적화</a:t>
            </a:r>
            <a:endParaRPr spc="-25"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2A594A91-0576-A721-CB47-3E8F452C3933}"/>
              </a:ext>
            </a:extLst>
          </p:cNvPr>
          <p:cNvSpPr/>
          <p:nvPr/>
        </p:nvSpPr>
        <p:spPr>
          <a:xfrm>
            <a:off x="838200" y="1311910"/>
            <a:ext cx="10515600" cy="0"/>
          </a:xfrm>
          <a:custGeom>
            <a:avLst/>
            <a:gdLst/>
            <a:ahLst/>
            <a:cxnLst/>
            <a:rect l="l" t="t" r="r" b="b"/>
            <a:pathLst>
              <a:path w="10515600">
                <a:moveTo>
                  <a:pt x="0" y="0"/>
                </a:moveTo>
                <a:lnTo>
                  <a:pt x="10515600" y="0"/>
                </a:lnTo>
              </a:path>
            </a:pathLst>
          </a:custGeom>
          <a:ln w="28575">
            <a:solidFill>
              <a:srgbClr val="CF3C1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45AC8FD9-D4C7-5C2C-3757-11499919B0B2}"/>
              </a:ext>
            </a:extLst>
          </p:cNvPr>
          <p:cNvSpPr txBox="1">
            <a:spLocks/>
          </p:cNvSpPr>
          <p:nvPr/>
        </p:nvSpPr>
        <p:spPr>
          <a:xfrm>
            <a:off x="1028700" y="1520351"/>
            <a:ext cx="10134600" cy="21589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b="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+mn-ea"/>
              </a:rPr>
              <a:t>OBB </a:t>
            </a:r>
            <a:r>
              <a:rPr lang="ko-KR" altLang="en-US" sz="1600" dirty="0">
                <a:latin typeface="+mn-ea"/>
              </a:rPr>
              <a:t>충돌</a:t>
            </a:r>
            <a:r>
              <a:rPr lang="en-US" altLang="ko-KR" sz="1600" dirty="0">
                <a:latin typeface="+mn-ea"/>
              </a:rPr>
              <a:t> </a:t>
            </a:r>
            <a:r>
              <a:rPr lang="ko-KR" altLang="en-US" sz="1600" dirty="0">
                <a:latin typeface="+mn-ea"/>
              </a:rPr>
              <a:t>체크</a:t>
            </a:r>
            <a:endParaRPr lang="en-US" altLang="ko-KR" sz="1200" dirty="0">
              <a:latin typeface="Malgun Gothic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sz="1200" dirty="0" err="1"/>
              <a:t>Bounding</a:t>
            </a:r>
            <a:r>
              <a:rPr lang="ko-KR" altLang="ko-KR" sz="1200" dirty="0"/>
              <a:t> </a:t>
            </a:r>
            <a:r>
              <a:rPr lang="ko-KR" altLang="ko-KR" sz="1200" dirty="0" err="1"/>
              <a:t>Circle</a:t>
            </a:r>
            <a:r>
              <a:rPr lang="en-US" altLang="ko-KR" sz="1200" dirty="0"/>
              <a:t> </a:t>
            </a:r>
            <a:r>
              <a:rPr lang="ko-KR" altLang="en-US" sz="1200" dirty="0"/>
              <a:t>우선 거르기</a:t>
            </a:r>
            <a:r>
              <a:rPr lang="en-US" altLang="ko-KR" sz="1200" dirty="0"/>
              <a:t>, </a:t>
            </a:r>
            <a:r>
              <a:rPr lang="ko-KR" altLang="en-US" sz="1200" dirty="0"/>
              <a:t>코드 최적화</a:t>
            </a:r>
            <a:endParaRPr lang="en-US" altLang="ko-KR" sz="1200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예산 </a:t>
            </a:r>
            <a:r>
              <a:rPr lang="en-US" altLang="ko-KR" sz="1200" dirty="0"/>
              <a:t>1ms</a:t>
            </a:r>
            <a:r>
              <a:rPr lang="ko-KR" altLang="en-US" sz="1200" dirty="0"/>
              <a:t>면</a:t>
            </a:r>
            <a:r>
              <a:rPr lang="en-US" altLang="ko-KR" sz="1200" dirty="0"/>
              <a:t> AI </a:t>
            </a:r>
            <a:r>
              <a:rPr lang="ko-KR" altLang="en-US" sz="1200" dirty="0"/>
              <a:t>판단하는 근처 차가 </a:t>
            </a:r>
            <a:r>
              <a:rPr lang="en-US" altLang="ko-KR" sz="1200" dirty="0"/>
              <a:t>30</a:t>
            </a:r>
            <a:r>
              <a:rPr lang="ko-KR" altLang="en-US" sz="1200" dirty="0"/>
              <a:t>대 있다고 치면</a:t>
            </a:r>
            <a:r>
              <a:rPr lang="en-US" altLang="ko-KR" sz="1200" dirty="0"/>
              <a:t>, 4,880 ÷ 30 ≈ </a:t>
            </a:r>
            <a:r>
              <a:rPr lang="ko-KR" altLang="en-US" sz="1200" dirty="0"/>
              <a:t>차 </a:t>
            </a:r>
            <a:r>
              <a:rPr lang="en-US" altLang="ko-KR" sz="1200" dirty="0"/>
              <a:t>1</a:t>
            </a:r>
            <a:r>
              <a:rPr lang="ko-KR" altLang="en-US" sz="1200" dirty="0"/>
              <a:t>대당 프레임당 약 </a:t>
            </a:r>
            <a:r>
              <a:rPr lang="en-US" altLang="ko-KR" sz="1200" dirty="0"/>
              <a:t>160</a:t>
            </a:r>
            <a:r>
              <a:rPr lang="ko-KR" altLang="en-US" sz="1200" dirty="0"/>
              <a:t>번</a:t>
            </a:r>
            <a:r>
              <a:rPr lang="en-US" altLang="ko-KR" sz="1200" dirty="0"/>
              <a:t>(</a:t>
            </a:r>
            <a:r>
              <a:rPr lang="ko-KR" altLang="en-US" sz="1200" dirty="0"/>
              <a:t>장애물 </a:t>
            </a:r>
            <a:r>
              <a:rPr lang="en-US" altLang="ko-KR" sz="1200" dirty="0"/>
              <a:t>50</a:t>
            </a:r>
            <a:r>
              <a:rPr lang="ko-KR" altLang="en-US" sz="1200" dirty="0"/>
              <a:t>개 기준</a:t>
            </a:r>
            <a:r>
              <a:rPr lang="en-US" altLang="ko-KR" sz="1200" dirty="0"/>
              <a:t>), </a:t>
            </a:r>
            <a:r>
              <a:rPr lang="ko-KR" altLang="en-US" sz="1200" dirty="0" err="1"/>
              <a:t>레이캐스트는</a:t>
            </a:r>
            <a:r>
              <a:rPr lang="ko-KR" altLang="en-US" sz="1200" dirty="0"/>
              <a:t> </a:t>
            </a:r>
            <a:r>
              <a:rPr lang="en-US" altLang="ko-KR" sz="1200" dirty="0"/>
              <a:t>4200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현재 </a:t>
            </a:r>
            <a:r>
              <a:rPr lang="en-US" altLang="ko-KR" sz="1200" dirty="0" err="1"/>
              <a:t>EvaluateTrajectorySafety</a:t>
            </a:r>
            <a:r>
              <a:rPr lang="ko-KR" altLang="en-US" sz="1200" dirty="0"/>
              <a:t>가 </a:t>
            </a:r>
            <a:r>
              <a:rPr lang="en-US" altLang="ko-KR" sz="1200" dirty="0"/>
              <a:t>270</a:t>
            </a:r>
            <a:r>
              <a:rPr lang="ko-KR" altLang="en-US" sz="1200" dirty="0"/>
              <a:t>번 </a:t>
            </a:r>
            <a:r>
              <a:rPr lang="en-US" altLang="ko-KR" sz="1200" dirty="0"/>
              <a:t>(0.2</a:t>
            </a:r>
            <a:r>
              <a:rPr lang="ko-KR" altLang="en-US" sz="1200" dirty="0"/>
              <a:t>초마다</a:t>
            </a:r>
            <a:r>
              <a:rPr lang="en-US" altLang="ko-KR" sz="1200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200" dirty="0">
              <a:latin typeface="Malgun Gothic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200" dirty="0">
              <a:latin typeface="Malgun Gothic"/>
              <a:cs typeface="Malgun Gothic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latin typeface="+mn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4D064B4-BA8A-9EFC-3261-103DFAF8248E}"/>
              </a:ext>
            </a:extLst>
          </p:cNvPr>
          <p:cNvGraphicFramePr>
            <a:graphicFrameLocks noGrp="1"/>
          </p:cNvGraphicFramePr>
          <p:nvPr/>
        </p:nvGraphicFramePr>
        <p:xfrm>
          <a:off x="2133600" y="3276600"/>
          <a:ext cx="3114676" cy="1676402"/>
        </p:xfrm>
        <a:graphic>
          <a:graphicData uri="http://schemas.openxmlformats.org/drawingml/2006/table">
            <a:tbl>
              <a:tblPr/>
              <a:tblGrid>
                <a:gridCol w="778669">
                  <a:extLst>
                    <a:ext uri="{9D8B030D-6E8A-4147-A177-3AD203B41FA5}">
                      <a16:colId xmlns:a16="http://schemas.microsoft.com/office/drawing/2014/main" val="308746072"/>
                    </a:ext>
                  </a:extLst>
                </a:gridCol>
                <a:gridCol w="778669">
                  <a:extLst>
                    <a:ext uri="{9D8B030D-6E8A-4147-A177-3AD203B41FA5}">
                      <a16:colId xmlns:a16="http://schemas.microsoft.com/office/drawing/2014/main" val="362796607"/>
                    </a:ext>
                  </a:extLst>
                </a:gridCol>
                <a:gridCol w="778669">
                  <a:extLst>
                    <a:ext uri="{9D8B030D-6E8A-4147-A177-3AD203B41FA5}">
                      <a16:colId xmlns:a16="http://schemas.microsoft.com/office/drawing/2014/main" val="3606350442"/>
                    </a:ext>
                  </a:extLst>
                </a:gridCol>
                <a:gridCol w="778669">
                  <a:extLst>
                    <a:ext uri="{9D8B030D-6E8A-4147-A177-3AD203B41FA5}">
                      <a16:colId xmlns:a16="http://schemas.microsoft.com/office/drawing/2014/main" val="1055238234"/>
                    </a:ext>
                  </a:extLst>
                </a:gridCol>
              </a:tblGrid>
              <a:tr h="23948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obstacles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before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 dirty="0" err="1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after</a:t>
                      </a:r>
                      <a:endParaRPr lang="ko-KR" sz="10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speedup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6755428"/>
                  </a:ext>
                </a:extLst>
              </a:tr>
              <a:tr h="23948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1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 dirty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0.056</a:t>
                      </a:r>
                      <a:r>
                        <a:rPr lang="en-US" altLang="ko-KR" sz="1000" b="0" i="0" dirty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µs</a:t>
                      </a:r>
                      <a:endParaRPr lang="ko-KR" sz="10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 dirty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0.037</a:t>
                      </a:r>
                      <a:r>
                        <a:rPr lang="en-US" altLang="ko-KR" sz="1000" b="0" i="0" dirty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µs</a:t>
                      </a:r>
                      <a:endParaRPr lang="ko-KR" sz="10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 dirty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1.5x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2253667"/>
                  </a:ext>
                </a:extLst>
              </a:tr>
              <a:tr h="23948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6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 dirty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0.164</a:t>
                      </a:r>
                      <a:r>
                        <a:rPr lang="en-US" altLang="ko-KR" sz="1000" b="0" i="0" dirty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µs</a:t>
                      </a:r>
                      <a:endParaRPr lang="ko-KR" sz="10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 dirty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0.057</a:t>
                      </a:r>
                      <a:r>
                        <a:rPr lang="en-US" altLang="ko-KR" sz="1000" b="0" i="0" dirty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µs</a:t>
                      </a:r>
                      <a:endParaRPr lang="ko-KR" sz="10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2.9x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2075752"/>
                  </a:ext>
                </a:extLst>
              </a:tr>
              <a:tr h="23948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20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 dirty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0.466</a:t>
                      </a:r>
                      <a:r>
                        <a:rPr lang="en-US" altLang="ko-KR" sz="1000" b="0" i="0" dirty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µs</a:t>
                      </a:r>
                      <a:endParaRPr lang="ko-KR" sz="10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 dirty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0.103</a:t>
                      </a:r>
                      <a:r>
                        <a:rPr lang="en-US" altLang="ko-KR" sz="1000" b="0" i="0" dirty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µs</a:t>
                      </a:r>
                      <a:endParaRPr lang="ko-KR" sz="10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4.5x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9783989"/>
                  </a:ext>
                </a:extLst>
              </a:tr>
              <a:tr h="23948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50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 dirty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1.112</a:t>
                      </a:r>
                      <a:r>
                        <a:rPr lang="en-US" altLang="ko-KR" sz="1000" b="0" i="0" dirty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µs</a:t>
                      </a:r>
                      <a:endParaRPr lang="ko-KR" sz="10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 dirty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0.202</a:t>
                      </a:r>
                      <a:r>
                        <a:rPr lang="en-US" altLang="ko-KR" sz="1000" b="0" i="0" dirty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µs</a:t>
                      </a:r>
                      <a:endParaRPr lang="ko-KR" sz="10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5.5x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620822"/>
                  </a:ext>
                </a:extLst>
              </a:tr>
              <a:tr h="23948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200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 dirty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4.202</a:t>
                      </a:r>
                      <a:r>
                        <a:rPr lang="en-US" altLang="ko-KR" sz="1000" b="0" i="0" dirty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µs</a:t>
                      </a:r>
                      <a:endParaRPr lang="ko-KR" sz="10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 dirty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0.609</a:t>
                      </a:r>
                      <a:r>
                        <a:rPr lang="en-US" altLang="ko-KR" sz="1000" b="0" i="0" dirty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µs</a:t>
                      </a:r>
                      <a:endParaRPr lang="ko-KR" sz="10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 dirty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6.9x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5079519"/>
                  </a:ext>
                </a:extLst>
              </a:tr>
              <a:tr h="23948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500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 dirty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9.742</a:t>
                      </a:r>
                      <a:r>
                        <a:rPr lang="en-US" altLang="ko-KR" sz="1000" b="0" i="0" dirty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µs</a:t>
                      </a:r>
                      <a:endParaRPr lang="ko-KR" sz="10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 dirty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1.325</a:t>
                      </a:r>
                      <a:r>
                        <a:rPr lang="en-US" altLang="ko-KR" sz="1000" b="0" i="0" dirty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µs</a:t>
                      </a:r>
                      <a:endParaRPr lang="ko-KR" sz="1000" b="0" i="0" dirty="0">
                        <a:solidFill>
                          <a:schemeClr val="tx1"/>
                        </a:solidFill>
                        <a:effectLst/>
                        <a:latin typeface="-apple-system"/>
                      </a:endParaRP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 dirty="0">
                          <a:solidFill>
                            <a:schemeClr val="tx1"/>
                          </a:solidFill>
                          <a:effectLst/>
                          <a:latin typeface="-apple-system"/>
                        </a:rPr>
                        <a:t>7.4x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2710677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852A2E1-94E5-50BF-643A-8D0E08EE0BE7}"/>
              </a:ext>
            </a:extLst>
          </p:cNvPr>
          <p:cNvGraphicFramePr>
            <a:graphicFrameLocks noGrp="1"/>
          </p:cNvGraphicFramePr>
          <p:nvPr/>
        </p:nvGraphicFramePr>
        <p:xfrm>
          <a:off x="6103679" y="3429000"/>
          <a:ext cx="3114676" cy="1676402"/>
        </p:xfrm>
        <a:graphic>
          <a:graphicData uri="http://schemas.openxmlformats.org/drawingml/2006/table">
            <a:tbl>
              <a:tblPr/>
              <a:tblGrid>
                <a:gridCol w="778669">
                  <a:extLst>
                    <a:ext uri="{9D8B030D-6E8A-4147-A177-3AD203B41FA5}">
                      <a16:colId xmlns:a16="http://schemas.microsoft.com/office/drawing/2014/main" val="3851020447"/>
                    </a:ext>
                  </a:extLst>
                </a:gridCol>
                <a:gridCol w="778669">
                  <a:extLst>
                    <a:ext uri="{9D8B030D-6E8A-4147-A177-3AD203B41FA5}">
                      <a16:colId xmlns:a16="http://schemas.microsoft.com/office/drawing/2014/main" val="3191627694"/>
                    </a:ext>
                  </a:extLst>
                </a:gridCol>
                <a:gridCol w="778669">
                  <a:extLst>
                    <a:ext uri="{9D8B030D-6E8A-4147-A177-3AD203B41FA5}">
                      <a16:colId xmlns:a16="http://schemas.microsoft.com/office/drawing/2014/main" val="3434074777"/>
                    </a:ext>
                  </a:extLst>
                </a:gridCol>
                <a:gridCol w="778669">
                  <a:extLst>
                    <a:ext uri="{9D8B030D-6E8A-4147-A177-3AD203B41FA5}">
                      <a16:colId xmlns:a16="http://schemas.microsoft.com/office/drawing/2014/main" val="3587849896"/>
                    </a:ext>
                  </a:extLst>
                </a:gridCol>
              </a:tblGrid>
              <a:tr h="23948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rgbClr val="BFBFBF"/>
                          </a:solidFill>
                          <a:effectLst/>
                          <a:latin typeface="-apple-system"/>
                        </a:rPr>
                        <a:t>obstacles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A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rgbClr val="BFBFBF"/>
                          </a:solidFill>
                          <a:effectLst/>
                          <a:latin typeface="-apple-system"/>
                        </a:rPr>
                        <a:t>before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A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rgbClr val="BFBFBF"/>
                          </a:solidFill>
                          <a:effectLst/>
                          <a:latin typeface="-apple-system"/>
                        </a:rPr>
                        <a:t>after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A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rgbClr val="BFBFBF"/>
                          </a:solidFill>
                          <a:effectLst/>
                          <a:latin typeface="-apple-system"/>
                        </a:rPr>
                        <a:t>speedup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A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3788635"/>
                  </a:ext>
                </a:extLst>
              </a:tr>
              <a:tr h="23948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rgbClr val="BFBFBF"/>
                          </a:solidFill>
                          <a:effectLst/>
                          <a:latin typeface="-apple-system"/>
                        </a:rPr>
                        <a:t>1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A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rgbClr val="BFBFBF"/>
                          </a:solidFill>
                          <a:effectLst/>
                          <a:latin typeface="-apple-system"/>
                        </a:rPr>
                        <a:t>0.059us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A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rgbClr val="BFBFBF"/>
                          </a:solidFill>
                          <a:effectLst/>
                          <a:latin typeface="-apple-system"/>
                        </a:rPr>
                        <a:t>0.039us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A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rgbClr val="BFBFBF"/>
                          </a:solidFill>
                          <a:effectLst/>
                          <a:latin typeface="-apple-system"/>
                        </a:rPr>
                        <a:t>1.5x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A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6514176"/>
                  </a:ext>
                </a:extLst>
              </a:tr>
              <a:tr h="23948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rgbClr val="BFBFBF"/>
                          </a:solidFill>
                          <a:effectLst/>
                          <a:latin typeface="-apple-system"/>
                        </a:rPr>
                        <a:t>6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A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rgbClr val="BFBFBF"/>
                          </a:solidFill>
                          <a:effectLst/>
                          <a:latin typeface="-apple-system"/>
                        </a:rPr>
                        <a:t>0.170us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A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rgbClr val="BFBFBF"/>
                          </a:solidFill>
                          <a:effectLst/>
                          <a:latin typeface="-apple-system"/>
                        </a:rPr>
                        <a:t>0.060us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A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 dirty="0">
                          <a:solidFill>
                            <a:srgbClr val="BFBFBF"/>
                          </a:solidFill>
                          <a:effectLst/>
                          <a:latin typeface="-apple-system"/>
                        </a:rPr>
                        <a:t>2.8x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A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5654626"/>
                  </a:ext>
                </a:extLst>
              </a:tr>
              <a:tr h="23948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rgbClr val="BFBFBF"/>
                          </a:solidFill>
                          <a:effectLst/>
                          <a:latin typeface="-apple-system"/>
                        </a:rPr>
                        <a:t>20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A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rgbClr val="BFBFBF"/>
                          </a:solidFill>
                          <a:effectLst/>
                          <a:latin typeface="-apple-system"/>
                        </a:rPr>
                        <a:t>0.464us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A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rgbClr val="BFBFBF"/>
                          </a:solidFill>
                          <a:effectLst/>
                          <a:latin typeface="-apple-system"/>
                        </a:rPr>
                        <a:t>0.114us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A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rgbClr val="BFBFBF"/>
                          </a:solidFill>
                          <a:effectLst/>
                          <a:latin typeface="-apple-system"/>
                        </a:rPr>
                        <a:t>4.1x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A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8411324"/>
                  </a:ext>
                </a:extLst>
              </a:tr>
              <a:tr h="23948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rgbClr val="BFBFBF"/>
                          </a:solidFill>
                          <a:effectLst/>
                          <a:latin typeface="-apple-system"/>
                        </a:rPr>
                        <a:t>50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A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rgbClr val="BFBFBF"/>
                          </a:solidFill>
                          <a:effectLst/>
                          <a:latin typeface="-apple-system"/>
                        </a:rPr>
                        <a:t>1.161us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A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rgbClr val="BFBFBF"/>
                          </a:solidFill>
                          <a:effectLst/>
                          <a:latin typeface="-apple-system"/>
                        </a:rPr>
                        <a:t>0.238us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A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rgbClr val="BFBFBF"/>
                          </a:solidFill>
                          <a:effectLst/>
                          <a:latin typeface="-apple-system"/>
                        </a:rPr>
                        <a:t>4.9x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A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6075925"/>
                  </a:ext>
                </a:extLst>
              </a:tr>
              <a:tr h="23948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rgbClr val="BFBFBF"/>
                          </a:solidFill>
                          <a:effectLst/>
                          <a:latin typeface="-apple-system"/>
                        </a:rPr>
                        <a:t>200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A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rgbClr val="BFBFBF"/>
                          </a:solidFill>
                          <a:effectLst/>
                          <a:latin typeface="-apple-system"/>
                        </a:rPr>
                        <a:t>4.853us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A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 dirty="0">
                          <a:solidFill>
                            <a:srgbClr val="BFBFBF"/>
                          </a:solidFill>
                          <a:effectLst/>
                          <a:latin typeface="-apple-system"/>
                        </a:rPr>
                        <a:t>0.828us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A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rgbClr val="BFBFBF"/>
                          </a:solidFill>
                          <a:effectLst/>
                          <a:latin typeface="-apple-system"/>
                        </a:rPr>
                        <a:t>5.9x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A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4606390"/>
                  </a:ext>
                </a:extLst>
              </a:tr>
              <a:tr h="23948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rgbClr val="BFBFBF"/>
                          </a:solidFill>
                          <a:effectLst/>
                          <a:latin typeface="-apple-system"/>
                        </a:rPr>
                        <a:t>500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A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rgbClr val="BFBFBF"/>
                          </a:solidFill>
                          <a:effectLst/>
                          <a:latin typeface="-apple-system"/>
                        </a:rPr>
                        <a:t>13.089us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A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>
                          <a:solidFill>
                            <a:srgbClr val="BFBFBF"/>
                          </a:solidFill>
                          <a:effectLst/>
                          <a:latin typeface="-apple-system"/>
                        </a:rPr>
                        <a:t>2.012us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A1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00" b="0" i="0" dirty="0">
                          <a:solidFill>
                            <a:srgbClr val="BFBFBF"/>
                          </a:solidFill>
                          <a:effectLst/>
                          <a:latin typeface="-apple-system"/>
                        </a:rPr>
                        <a:t>6.5x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B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A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9849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86178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ko-KR" altLang="en-US" dirty="0"/>
              <a:t>향후</a:t>
            </a:r>
            <a:r>
              <a:rPr spc="-70" dirty="0"/>
              <a:t> </a:t>
            </a:r>
            <a:r>
              <a:rPr dirty="0"/>
              <a:t>진행</a:t>
            </a:r>
            <a:r>
              <a:rPr spc="-75" dirty="0"/>
              <a:t> </a:t>
            </a:r>
            <a:r>
              <a:rPr spc="-25" dirty="0"/>
              <a:t>계획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38" y="1596898"/>
            <a:ext cx="9446261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95"/>
              </a:spcBef>
              <a:buFont typeface="Arial MT"/>
              <a:buChar char="•"/>
              <a:tabLst>
                <a:tab pos="240665" algn="l"/>
              </a:tabLst>
            </a:pPr>
            <a:r>
              <a:rPr lang="ko-KR" altLang="en-US" sz="1600" dirty="0">
                <a:latin typeface="Malgun Gothic"/>
                <a:cs typeface="Malgun Gothic"/>
              </a:rPr>
              <a:t>주차별 계획</a:t>
            </a:r>
            <a:endParaRPr sz="1600" dirty="0">
              <a:latin typeface="Malgun Gothic"/>
              <a:cs typeface="Malgun Gothic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838200" y="1311910"/>
            <a:ext cx="10515600" cy="0"/>
          </a:xfrm>
          <a:custGeom>
            <a:avLst/>
            <a:gdLst/>
            <a:ahLst/>
            <a:cxnLst/>
            <a:rect l="l" t="t" r="r" b="b"/>
            <a:pathLst>
              <a:path w="10515600">
                <a:moveTo>
                  <a:pt x="0" y="0"/>
                </a:moveTo>
                <a:lnTo>
                  <a:pt x="10515600" y="0"/>
                </a:lnTo>
              </a:path>
            </a:pathLst>
          </a:custGeom>
          <a:ln w="28575">
            <a:solidFill>
              <a:srgbClr val="CF3C1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1912535"/>
              </p:ext>
            </p:extLst>
          </p:nvPr>
        </p:nvGraphicFramePr>
        <p:xfrm>
          <a:off x="2028825" y="2085975"/>
          <a:ext cx="8128000" cy="33337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194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709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37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주차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내용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비고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1주차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렌더링</a:t>
                      </a:r>
                      <a:r>
                        <a:rPr sz="1200" b="1" spc="-1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기반 구축,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차량 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조향/가속/제동/후진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강체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물리,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자전거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모델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2주차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길찾기,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차선</a:t>
                      </a:r>
                      <a:r>
                        <a:rPr sz="1200" b="1" spc="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추종,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0" dirty="0">
                          <a:latin typeface="Malgun Gothic"/>
                          <a:cs typeface="Malgun Gothic"/>
                        </a:rPr>
                        <a:t>차선변경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b="1" spc="-20" dirty="0">
                          <a:latin typeface="Malgun Gothic"/>
                          <a:cs typeface="Malgun Gothic"/>
                        </a:rPr>
                        <a:t>BT,</a:t>
                      </a:r>
                      <a:r>
                        <a:rPr sz="1200" b="1" spc="-3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스플라인</a:t>
                      </a:r>
                      <a:r>
                        <a:rPr sz="1200" b="1" spc="-4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그래프,</a:t>
                      </a:r>
                      <a:r>
                        <a:rPr sz="1200" b="1" spc="-4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A*,</a:t>
                      </a:r>
                      <a:r>
                        <a:rPr sz="1200" b="1" spc="-3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PurePursuit</a:t>
                      </a:r>
                      <a:r>
                        <a:rPr sz="1200" b="1" spc="-4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+</a:t>
                      </a:r>
                      <a:r>
                        <a:rPr sz="1200" b="1" spc="-4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PID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3주차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lang="ko-KR" altLang="en-US" sz="1200" b="1" dirty="0">
                          <a:latin typeface="Malgun Gothic"/>
                          <a:cs typeface="Malgun Gothic"/>
                        </a:rPr>
                        <a:t>주차 구현 및 단독 주행 튜닝 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lang="en-US" sz="1200" b="1" dirty="0">
                          <a:latin typeface="Malgun Gothic"/>
                          <a:cs typeface="Malgun Gothic"/>
                        </a:rPr>
                        <a:t>Reeds-Shepp, Hybrid A*</a:t>
                      </a:r>
                      <a:endParaRPr sz="1200" b="1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4주차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rgbClr val="F8D4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주행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AI</a:t>
                      </a:r>
                      <a:r>
                        <a:rPr sz="1200" b="1" spc="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: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앞차</a:t>
                      </a:r>
                      <a:r>
                        <a:rPr sz="1200" b="1" spc="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감지,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안전거리</a:t>
                      </a:r>
                      <a:r>
                        <a:rPr sz="1200" b="1" spc="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유지,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신호</a:t>
                      </a:r>
                      <a:r>
                        <a:rPr sz="1200" b="1" spc="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50" dirty="0">
                          <a:latin typeface="Malgun Gothic"/>
                          <a:cs typeface="Malgun Gothic"/>
                        </a:rPr>
                        <a:t>등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rgbClr val="F8D4C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lang="en-US" sz="1200" b="1" spc="-20" dirty="0">
                          <a:latin typeface="Malgun Gothic"/>
                          <a:cs typeface="Malgun Gothic"/>
                        </a:rPr>
                        <a:t>IDM, MOBIL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rgbClr val="F8D4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5주차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20"/>
                        </a:spcBef>
                      </a:pPr>
                      <a:r>
                        <a:rPr sz="1200" b="1" dirty="0">
                          <a:solidFill>
                            <a:srgbClr val="0070C0"/>
                          </a:solidFill>
                          <a:latin typeface="Malgun Gothic"/>
                          <a:cs typeface="Malgun Gothic"/>
                        </a:rPr>
                        <a:t>추월</a:t>
                      </a:r>
                      <a:r>
                        <a:rPr sz="1200" b="1" spc="-5" dirty="0">
                          <a:solidFill>
                            <a:srgbClr val="0070C0"/>
                          </a:solidFill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solidFill>
                            <a:srgbClr val="0070C0"/>
                          </a:solidFill>
                          <a:latin typeface="Malgun Gothic"/>
                          <a:cs typeface="Malgun Gothic"/>
                        </a:rPr>
                        <a:t>/</a:t>
                      </a:r>
                      <a:r>
                        <a:rPr sz="1200" b="1" spc="10" dirty="0">
                          <a:solidFill>
                            <a:srgbClr val="0070C0"/>
                          </a:solidFill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solidFill>
                            <a:srgbClr val="0070C0"/>
                          </a:solidFill>
                          <a:latin typeface="Malgun Gothic"/>
                          <a:cs typeface="Malgun Gothic"/>
                        </a:rPr>
                        <a:t>도로 합류</a:t>
                      </a:r>
                      <a:r>
                        <a:rPr sz="1200" b="1" spc="-5" dirty="0">
                          <a:solidFill>
                            <a:srgbClr val="0070C0"/>
                          </a:solidFill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solidFill>
                            <a:srgbClr val="0070C0"/>
                          </a:solidFill>
                          <a:latin typeface="Malgun Gothic"/>
                          <a:cs typeface="Malgun Gothic"/>
                        </a:rPr>
                        <a:t>/</a:t>
                      </a:r>
                      <a:r>
                        <a:rPr sz="1200" b="1" spc="10" dirty="0">
                          <a:solidFill>
                            <a:srgbClr val="0070C0"/>
                          </a:solidFill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lang="ko-KR" altLang="en-US" sz="1200" b="1" spc="10" dirty="0">
                          <a:solidFill>
                            <a:srgbClr val="0070C0"/>
                          </a:solidFill>
                          <a:latin typeface="Malgun Gothic"/>
                          <a:cs typeface="Malgun Gothic"/>
                        </a:rPr>
                        <a:t>장애물</a:t>
                      </a:r>
                      <a:r>
                        <a:rPr sz="1200" b="1" spc="-5" dirty="0">
                          <a:solidFill>
                            <a:srgbClr val="0070C0"/>
                          </a:solidFill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0070C0"/>
                          </a:solidFill>
                          <a:latin typeface="Malgun Gothic"/>
                          <a:cs typeface="Malgun Gothic"/>
                        </a:rPr>
                        <a:t>대처</a:t>
                      </a:r>
                      <a:r>
                        <a:rPr sz="1200" b="1" spc="-5" dirty="0">
                          <a:solidFill>
                            <a:srgbClr val="0070C0"/>
                          </a:solidFill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solidFill>
                            <a:srgbClr val="0070C0"/>
                          </a:solidFill>
                          <a:latin typeface="Malgun Gothic"/>
                          <a:cs typeface="Malgun Gothic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0070C0"/>
                          </a:solidFill>
                          <a:latin typeface="Malgun Gothic"/>
                          <a:cs typeface="Malgun Gothic"/>
                        </a:rPr>
                        <a:t>차선</a:t>
                      </a:r>
                      <a:r>
                        <a:rPr sz="1200" b="1" spc="-5" dirty="0">
                          <a:solidFill>
                            <a:srgbClr val="0070C0"/>
                          </a:solidFill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>
                          <a:solidFill>
                            <a:srgbClr val="0070C0"/>
                          </a:solidFill>
                          <a:latin typeface="Malgun Gothic"/>
                          <a:cs typeface="Malgun Gothic"/>
                        </a:rPr>
                        <a:t>우회)</a:t>
                      </a:r>
                      <a:endParaRPr sz="1200" dirty="0">
                        <a:solidFill>
                          <a:srgbClr val="0070C0"/>
                        </a:solidFill>
                        <a:latin typeface="Malgun Gothic"/>
                        <a:cs typeface="Malgun Gothic"/>
                      </a:endParaRPr>
                    </a:p>
                  </a:txBody>
                  <a:tcPr marL="0" marR="0" marT="9144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endParaRPr sz="1200" b="1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6주차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b="1" dirty="0">
                          <a:solidFill>
                            <a:schemeClr val="tx1"/>
                          </a:solidFill>
                          <a:latin typeface="Malgun Gothic"/>
                          <a:cs typeface="Malgun Gothic"/>
                        </a:rPr>
                        <a:t>운전</a:t>
                      </a:r>
                      <a:r>
                        <a:rPr sz="1200" b="1" spc="-5" dirty="0">
                          <a:solidFill>
                            <a:schemeClr val="tx1"/>
                          </a:solidFill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 err="1">
                          <a:solidFill>
                            <a:schemeClr val="tx1"/>
                          </a:solidFill>
                          <a:latin typeface="Malgun Gothic"/>
                          <a:cs typeface="Malgun Gothic"/>
                        </a:rPr>
                        <a:t>스타일</a:t>
                      </a:r>
                      <a:r>
                        <a:rPr sz="1200" b="1" spc="10" dirty="0">
                          <a:solidFill>
                            <a:schemeClr val="tx1"/>
                          </a:solidFill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 err="1">
                          <a:solidFill>
                            <a:schemeClr val="tx1"/>
                          </a:solidFill>
                          <a:latin typeface="Malgun Gothic"/>
                          <a:cs typeface="Malgun Gothic"/>
                        </a:rPr>
                        <a:t>적용</a:t>
                      </a:r>
                      <a:endParaRPr sz="1200" dirty="0">
                        <a:solidFill>
                          <a:schemeClr val="tx1"/>
                        </a:solidFill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파라미터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튜닝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7주차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대규모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차량</a:t>
                      </a:r>
                      <a:r>
                        <a:rPr sz="1200" b="1" spc="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최적화</a:t>
                      </a:r>
                      <a:endParaRPr sz="12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공간</a:t>
                      </a:r>
                      <a:r>
                        <a:rPr sz="1200" b="1" spc="-3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분할,</a:t>
                      </a:r>
                      <a:r>
                        <a:rPr sz="1200" b="1" spc="-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AI/렌더링</a:t>
                      </a:r>
                      <a:r>
                        <a:rPr sz="1200" b="1" spc="-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10" dirty="0">
                          <a:latin typeface="Malgun Gothic"/>
                          <a:cs typeface="Malgun Gothic"/>
                        </a:rPr>
                        <a:t>LOD,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 ECS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spc="-25" dirty="0">
                          <a:latin typeface="Malgun Gothic"/>
                          <a:cs typeface="Malgun Gothic"/>
                        </a:rPr>
                        <a:t>8주차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200" b="1" dirty="0">
                          <a:latin typeface="Malgun Gothic"/>
                          <a:cs typeface="Malgun Gothic"/>
                        </a:rPr>
                        <a:t>안정화</a:t>
                      </a:r>
                      <a:r>
                        <a:rPr sz="1200" b="1" spc="-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dirty="0">
                          <a:latin typeface="Malgun Gothic"/>
                          <a:cs typeface="Malgun Gothic"/>
                        </a:rPr>
                        <a:t>및</a:t>
                      </a:r>
                      <a:r>
                        <a:rPr sz="1200" b="1" spc="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200" b="1" spc="-25" dirty="0">
                          <a:latin typeface="Malgun Gothic"/>
                          <a:cs typeface="Malgun Gothic"/>
                        </a:rPr>
                        <a:t>폴리싱</a:t>
                      </a:r>
                      <a:endParaRPr sz="120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D1D1D1"/>
                      </a:solidFill>
                      <a:prstDash val="solid"/>
                    </a:lnL>
                    <a:lnR w="6350">
                      <a:solidFill>
                        <a:srgbClr val="D1D1D1"/>
                      </a:solidFill>
                      <a:prstDash val="solid"/>
                    </a:lnR>
                    <a:lnT w="6350">
                      <a:solidFill>
                        <a:srgbClr val="D1D1D1"/>
                      </a:solidFill>
                      <a:prstDash val="solid"/>
                    </a:lnT>
                    <a:lnB w="6350">
                      <a:solidFill>
                        <a:srgbClr val="D1D1D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4689</TotalTime>
  <Words>772</Words>
  <Application>Microsoft Office PowerPoint</Application>
  <PresentationFormat>와이드스크린</PresentationFormat>
  <Paragraphs>178</Paragraphs>
  <Slides>9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7" baseType="lpstr">
      <vt:lpstr>-apple-system</vt:lpstr>
      <vt:lpstr>Arial MT</vt:lpstr>
      <vt:lpstr>맑은 고딕</vt:lpstr>
      <vt:lpstr>맑은 고딕</vt:lpstr>
      <vt:lpstr>Arial</vt:lpstr>
      <vt:lpstr>Calibri</vt:lpstr>
      <vt:lpstr>Times New Roman</vt:lpstr>
      <vt:lpstr>Office Theme</vt:lpstr>
      <vt:lpstr>5주차 개발 진행 보고</vt:lpstr>
      <vt:lpstr>5주차 진행 현황</vt:lpstr>
      <vt:lpstr>5주차 진행 현황 – 결과 영상</vt:lpstr>
      <vt:lpstr>작업내용 – 대규모 수정</vt:lpstr>
      <vt:lpstr>작업내용 – 대규모 수정</vt:lpstr>
      <vt:lpstr>작업내용 – 도로 데이터 변경</vt:lpstr>
      <vt:lpstr>작업내용 – 주행 후보 평가</vt:lpstr>
      <vt:lpstr>추가 작업 – 최적화</vt:lpstr>
      <vt:lpstr>향후 진행 계획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박인영</dc:creator>
  <cp:lastModifiedBy>박인영</cp:lastModifiedBy>
  <cp:revision>64</cp:revision>
  <dcterms:created xsi:type="dcterms:W3CDTF">2026-07-10T04:44:00Z</dcterms:created>
  <dcterms:modified xsi:type="dcterms:W3CDTF">2026-07-30T09:33:20Z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2026-07-03T00:00:00Z</vt:filetime>
  </property>
  <property fmtid="{D5CDD505-2E9C-101B-9397-08002B2CF9AE}" pid="4" name="Creator">
    <vt:lpwstr>Microsoft® PowerPoint® Microsoft 365용</vt:lpwstr>
  </property>
  <property fmtid="{D5CDD505-2E9C-101B-9397-08002B2CF9AE}" pid="5" name="LastSaved">
    <vt:filetime>2026-07-10T00:00:00Z</vt:filetime>
  </property>
  <property fmtid="{D5CDD505-2E9C-101B-9397-08002B2CF9AE}" pid="6" name="Producer">
    <vt:lpwstr>Microsoft® PowerPoint® Microsoft 365용</vt:lpwstr>
  </property>
</Properties>
</file>