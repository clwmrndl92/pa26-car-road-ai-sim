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9" r:id="rId3"/>
    <p:sldId id="264" r:id="rId4"/>
    <p:sldId id="267" r:id="rId5"/>
    <p:sldId id="268" r:id="rId6"/>
    <p:sldId id="258" r:id="rId7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D4CC"/>
    <a:srgbClr val="25ADFF"/>
    <a:srgbClr val="D0D8E8"/>
    <a:srgbClr val="E9EDF4"/>
    <a:srgbClr val="CF3C1C"/>
    <a:srgbClr val="D9B4AB"/>
    <a:srgbClr val="A15848"/>
    <a:srgbClr val="FFFFFF"/>
    <a:srgbClr val="3C92FF"/>
    <a:srgbClr val="FFEF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보통 스타일 3 - 강조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8" autoAdjust="0"/>
    <p:restoredTop sz="96508" autoAdjust="0"/>
  </p:normalViewPr>
  <p:slideViewPr>
    <p:cSldViewPr>
      <p:cViewPr varScale="1">
        <p:scale>
          <a:sx n="116" d="100"/>
          <a:sy n="116" d="100"/>
        </p:scale>
        <p:origin x="102" y="24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912881-8C8D-44A6-AE66-9F7D64B0003F}" type="datetimeFigureOut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40BF9F-FA8F-4CB1-839A-D4536A9CAC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6829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40BF9F-FA8F-4CB1-839A-D4536A9CACB4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748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40BF9F-FA8F-4CB1-839A-D4536A9CACB4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1744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40BF9F-FA8F-4CB1-839A-D4536A9CACB4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40845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8C03F-75D5-FE77-733F-73157D2D5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C3F6F53-EE89-2079-04DC-F28C9ADE89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D338FE0-BCDA-C08E-3FBB-F469B9DAE8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404F78-4E1D-4D2A-23F3-55A16A4455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40BF9F-FA8F-4CB1-839A-D4536A9CACB4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82351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40BF9F-FA8F-4CB1-839A-D4536A9CACB4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46381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52932" y="2572334"/>
            <a:ext cx="6614795" cy="8489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939" y="684403"/>
            <a:ext cx="6104255" cy="452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990725" y="2085975"/>
            <a:ext cx="8210550" cy="3333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52932" y="3695827"/>
            <a:ext cx="29629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CF3C1C"/>
                </a:solidFill>
                <a:latin typeface="Malgun Gothic"/>
                <a:cs typeface="Malgun Gothic"/>
              </a:rPr>
              <a:t>자동차</a:t>
            </a:r>
            <a:r>
              <a:rPr sz="2400" spc="5" dirty="0">
                <a:solidFill>
                  <a:srgbClr val="CF3C1C"/>
                </a:solidFill>
                <a:latin typeface="Malgun Gothic"/>
                <a:cs typeface="Malgun Gothic"/>
              </a:rPr>
              <a:t> </a:t>
            </a:r>
            <a:r>
              <a:rPr sz="2400" dirty="0">
                <a:solidFill>
                  <a:srgbClr val="CF3C1C"/>
                </a:solidFill>
                <a:latin typeface="Malgun Gothic"/>
                <a:cs typeface="Malgun Gothic"/>
              </a:rPr>
              <a:t>AI </a:t>
            </a:r>
            <a:r>
              <a:rPr sz="2400" spc="-10" dirty="0">
                <a:solidFill>
                  <a:srgbClr val="CF3C1C"/>
                </a:solidFill>
                <a:latin typeface="Malgun Gothic"/>
                <a:cs typeface="Malgun Gothic"/>
              </a:rPr>
              <a:t>시뮬레이션</a:t>
            </a:r>
            <a:endParaRPr sz="2400">
              <a:latin typeface="Malgun Gothic"/>
              <a:cs typeface="Malgun Gothic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5400" dirty="0">
                <a:solidFill>
                  <a:srgbClr val="393939"/>
                </a:solidFill>
              </a:rPr>
              <a:t>4</a:t>
            </a:r>
            <a:r>
              <a:rPr sz="5400" dirty="0">
                <a:solidFill>
                  <a:srgbClr val="393939"/>
                </a:solidFill>
              </a:rPr>
              <a:t>주차</a:t>
            </a:r>
            <a:r>
              <a:rPr sz="5400" spc="-10" dirty="0">
                <a:solidFill>
                  <a:srgbClr val="393939"/>
                </a:solidFill>
              </a:rPr>
              <a:t> </a:t>
            </a:r>
            <a:r>
              <a:rPr sz="5400" dirty="0">
                <a:solidFill>
                  <a:srgbClr val="393939"/>
                </a:solidFill>
              </a:rPr>
              <a:t>개발 진행</a:t>
            </a:r>
            <a:r>
              <a:rPr sz="5400" spc="-5" dirty="0">
                <a:solidFill>
                  <a:srgbClr val="393939"/>
                </a:solidFill>
              </a:rPr>
              <a:t> </a:t>
            </a:r>
            <a:r>
              <a:rPr sz="5400" spc="-25" dirty="0">
                <a:solidFill>
                  <a:srgbClr val="393939"/>
                </a:solidFill>
              </a:rPr>
              <a:t>보고</a:t>
            </a:r>
            <a:endParaRPr sz="5400" dirty="0"/>
          </a:p>
        </p:txBody>
      </p:sp>
      <p:sp>
        <p:nvSpPr>
          <p:cNvPr id="4" name="object 4"/>
          <p:cNvSpPr txBox="1"/>
          <p:nvPr/>
        </p:nvSpPr>
        <p:spPr>
          <a:xfrm>
            <a:off x="9659239" y="6299403"/>
            <a:ext cx="2057400" cy="18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050" dirty="0">
                <a:latin typeface="Malgun Gothic"/>
                <a:cs typeface="Malgun Gothic"/>
              </a:rPr>
              <a:t>2026</a:t>
            </a:r>
            <a:r>
              <a:rPr sz="1050" spc="-10" dirty="0">
                <a:latin typeface="Malgun Gothic"/>
                <a:cs typeface="Malgun Gothic"/>
              </a:rPr>
              <a:t> </a:t>
            </a:r>
            <a:r>
              <a:rPr sz="1050" dirty="0">
                <a:latin typeface="Malgun Gothic"/>
                <a:cs typeface="Malgun Gothic"/>
              </a:rPr>
              <a:t>펄어비스</a:t>
            </a:r>
            <a:r>
              <a:rPr sz="1050" spc="-20" dirty="0">
                <a:latin typeface="Malgun Gothic"/>
                <a:cs typeface="Malgun Gothic"/>
              </a:rPr>
              <a:t> </a:t>
            </a:r>
            <a:r>
              <a:rPr sz="1050" dirty="0">
                <a:latin typeface="Malgun Gothic"/>
                <a:cs typeface="Malgun Gothic"/>
              </a:rPr>
              <a:t>여름</a:t>
            </a:r>
            <a:r>
              <a:rPr sz="1050" spc="-10" dirty="0">
                <a:latin typeface="Malgun Gothic"/>
                <a:cs typeface="Malgun Gothic"/>
              </a:rPr>
              <a:t> </a:t>
            </a:r>
            <a:r>
              <a:rPr sz="1050" dirty="0">
                <a:latin typeface="Malgun Gothic"/>
                <a:cs typeface="Malgun Gothic"/>
              </a:rPr>
              <a:t>인턴 | </a:t>
            </a:r>
            <a:r>
              <a:rPr sz="1050" spc="-25" dirty="0">
                <a:latin typeface="Malgun Gothic"/>
                <a:cs typeface="Malgun Gothic"/>
              </a:rPr>
              <a:t>박인영</a:t>
            </a:r>
            <a:endParaRPr sz="1050">
              <a:latin typeface="Malgun Gothic"/>
              <a:cs typeface="Malgun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378A6384-9146-4939-394F-B34ADED8A35A}"/>
              </a:ext>
            </a:extLst>
          </p:cNvPr>
          <p:cNvSpPr txBox="1">
            <a:spLocks/>
          </p:cNvSpPr>
          <p:nvPr/>
        </p:nvSpPr>
        <p:spPr>
          <a:xfrm>
            <a:off x="1028700" y="1520351"/>
            <a:ext cx="10134600" cy="191276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b="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목표 </a:t>
            </a:r>
            <a:r>
              <a:rPr lang="en-US" altLang="ko-KR" sz="1600" dirty="0">
                <a:latin typeface="+mn-ea"/>
              </a:rPr>
              <a:t>: </a:t>
            </a:r>
            <a:r>
              <a:rPr lang="ko-KR" altLang="en-US" sz="1600" b="1" dirty="0">
                <a:latin typeface="+mn-ea"/>
              </a:rPr>
              <a:t>다수 차량의 자연스러운 주행</a:t>
            </a:r>
            <a:r>
              <a:rPr lang="en-US" altLang="ko-KR" sz="1600" b="1" dirty="0">
                <a:latin typeface="+mn-ea"/>
              </a:rPr>
              <a:t>, </a:t>
            </a:r>
            <a:r>
              <a:rPr lang="ko-KR" altLang="en-US" sz="1600" b="1" dirty="0">
                <a:latin typeface="+mn-ea"/>
              </a:rPr>
              <a:t>상호작용</a:t>
            </a:r>
            <a:r>
              <a:rPr lang="en-US" altLang="ko-KR" sz="1600" b="1" dirty="0">
                <a:latin typeface="+mn-ea"/>
              </a:rPr>
              <a:t>, </a:t>
            </a:r>
            <a:r>
              <a:rPr lang="ko-KR" altLang="en-US" sz="1600" b="1" dirty="0">
                <a:latin typeface="+mn-ea"/>
              </a:rPr>
              <a:t>신호준수</a:t>
            </a:r>
            <a:endParaRPr lang="en-US" altLang="ko-KR" sz="1600" b="1" dirty="0"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이번주 작업</a:t>
            </a:r>
            <a:endParaRPr lang="en-US" altLang="ko-KR" sz="1600" dirty="0">
              <a:latin typeface="+mn-ea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+mn-ea"/>
              </a:rPr>
              <a:t>ㅇㄹㅇㄹㅇㄹㅇㄹㅇㄹㅇㄹㅇㄹㅇ</a:t>
            </a:r>
            <a:endParaRPr lang="en-US" altLang="ko-KR" sz="1400" dirty="0">
              <a:latin typeface="+mn-ea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Malgun Gothic"/>
                <a:cs typeface="Malgun Gothic"/>
              </a:rPr>
              <a:t> 가능한 </a:t>
            </a:r>
            <a:r>
              <a:rPr lang="ko-KR" altLang="ko-KR" sz="1400" dirty="0"/>
              <a:t>목표 위치와 방향까지</a:t>
            </a:r>
            <a:r>
              <a:rPr lang="ko-KR" altLang="en-US" sz="1400" dirty="0">
                <a:latin typeface="Malgun Gothic"/>
                <a:cs typeface="Malgun Gothic"/>
              </a:rPr>
              <a:t> 차량의 최단경로</a:t>
            </a:r>
            <a:endParaRPr lang="en-US" altLang="ko-KR" sz="1600" dirty="0">
              <a:latin typeface="+mn-ea"/>
              <a:cs typeface="Malgun Gothic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+mn-ea"/>
              </a:rPr>
              <a:t>Sd</a:t>
            </a:r>
            <a:r>
              <a:rPr lang="ko-KR" altLang="en-US" sz="1400" dirty="0">
                <a:latin typeface="Malgun Gothic"/>
                <a:cs typeface="Malgun Gothic"/>
              </a:rPr>
              <a:t>전진 </a:t>
            </a:r>
            <a:r>
              <a:rPr lang="en-US" altLang="ko-KR" sz="1400" dirty="0">
                <a:latin typeface="Malgun Gothic"/>
                <a:cs typeface="Malgun Gothic"/>
              </a:rPr>
              <a:t>+ </a:t>
            </a:r>
            <a:r>
              <a:rPr lang="en-US" altLang="ko-KR" sz="1400" dirty="0" err="1">
                <a:latin typeface="+mn-ea"/>
              </a:rPr>
              <a:t>sds</a:t>
            </a:r>
            <a:endParaRPr lang="en-US" altLang="ko-KR" sz="1400" dirty="0">
              <a:latin typeface="+mn-ea"/>
            </a:endParaRP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4</a:t>
            </a:r>
            <a:r>
              <a:rPr dirty="0"/>
              <a:t>주차</a:t>
            </a:r>
            <a:r>
              <a:rPr spc="-50" dirty="0"/>
              <a:t> </a:t>
            </a:r>
            <a:r>
              <a:rPr dirty="0"/>
              <a:t>진행</a:t>
            </a:r>
            <a:r>
              <a:rPr spc="-50" dirty="0"/>
              <a:t> </a:t>
            </a:r>
            <a:r>
              <a:rPr spc="-25" dirty="0"/>
              <a:t>현황</a:t>
            </a:r>
          </a:p>
        </p:txBody>
      </p:sp>
      <p:sp>
        <p:nvSpPr>
          <p:cNvPr id="4" name="object 4"/>
          <p:cNvSpPr/>
          <p:nvPr/>
        </p:nvSpPr>
        <p:spPr>
          <a:xfrm>
            <a:off x="838200" y="1311910"/>
            <a:ext cx="10515600" cy="0"/>
          </a:xfrm>
          <a:custGeom>
            <a:avLst/>
            <a:gdLst/>
            <a:ahLst/>
            <a:cxnLst/>
            <a:rect l="l" t="t" r="r" b="b"/>
            <a:pathLst>
              <a:path w="10515600">
                <a:moveTo>
                  <a:pt x="0" y="0"/>
                </a:moveTo>
                <a:lnTo>
                  <a:pt x="10515600" y="0"/>
                </a:lnTo>
              </a:path>
            </a:pathLst>
          </a:custGeom>
          <a:ln w="28575">
            <a:solidFill>
              <a:srgbClr val="CF3C1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0D5A9-EF30-C2FA-41BD-461188DE7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A17A1AB1-A449-3EA6-18E4-5B0E8D4093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4</a:t>
            </a:r>
            <a:r>
              <a:rPr dirty="0"/>
              <a:t>주차</a:t>
            </a:r>
            <a:r>
              <a:rPr spc="-50" dirty="0"/>
              <a:t> </a:t>
            </a:r>
            <a:r>
              <a:rPr dirty="0" err="1"/>
              <a:t>진행</a:t>
            </a:r>
            <a:r>
              <a:rPr spc="-50" dirty="0"/>
              <a:t> </a:t>
            </a:r>
            <a:r>
              <a:rPr spc="-25" dirty="0" err="1"/>
              <a:t>현황</a:t>
            </a:r>
            <a:r>
              <a:rPr lang="en-US" spc="-25" dirty="0"/>
              <a:t> – </a:t>
            </a:r>
            <a:r>
              <a:rPr lang="ko-KR" altLang="en-US" spc="-25" dirty="0"/>
              <a:t>결과 영상</a:t>
            </a:r>
            <a:endParaRPr spc="-25"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B8031128-2D36-341E-B655-4D9B46C691D6}"/>
              </a:ext>
            </a:extLst>
          </p:cNvPr>
          <p:cNvSpPr/>
          <p:nvPr/>
        </p:nvSpPr>
        <p:spPr>
          <a:xfrm>
            <a:off x="838200" y="1311910"/>
            <a:ext cx="10515600" cy="0"/>
          </a:xfrm>
          <a:custGeom>
            <a:avLst/>
            <a:gdLst/>
            <a:ahLst/>
            <a:cxnLst/>
            <a:rect l="l" t="t" r="r" b="b"/>
            <a:pathLst>
              <a:path w="10515600">
                <a:moveTo>
                  <a:pt x="0" y="0"/>
                </a:moveTo>
                <a:lnTo>
                  <a:pt x="10515600" y="0"/>
                </a:lnTo>
              </a:path>
            </a:pathLst>
          </a:custGeom>
          <a:ln w="28575">
            <a:solidFill>
              <a:srgbClr val="CF3C1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40527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3042C-DA12-125F-69ED-DA6BB20CA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FF55A566-7971-6A1F-76B0-E42C687A59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ko-KR" altLang="en-US" spc="-25" dirty="0"/>
              <a:t>작업내용 </a:t>
            </a:r>
            <a:r>
              <a:rPr lang="en-US" altLang="ko-KR" spc="-25" dirty="0"/>
              <a:t>– </a:t>
            </a:r>
            <a:r>
              <a:rPr lang="ko-KR" altLang="en-US" spc="-25" dirty="0"/>
              <a:t>주차</a:t>
            </a:r>
            <a:r>
              <a:rPr lang="en-US" altLang="ko-KR" spc="-25" dirty="0"/>
              <a:t>(</a:t>
            </a:r>
            <a:r>
              <a:rPr lang="ko-KR" altLang="en-US" spc="-25" dirty="0" err="1"/>
              <a:t>출차</a:t>
            </a:r>
            <a:r>
              <a:rPr lang="en-US" altLang="ko-KR" spc="-25" dirty="0"/>
              <a:t>)</a:t>
            </a:r>
            <a:r>
              <a:rPr lang="ko-KR" altLang="en-US" spc="-25" dirty="0"/>
              <a:t> 구현</a:t>
            </a:r>
            <a:endParaRPr spc="-25"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F1C66AFD-E123-1EA0-16A7-4E57587C4F24}"/>
              </a:ext>
            </a:extLst>
          </p:cNvPr>
          <p:cNvSpPr/>
          <p:nvPr/>
        </p:nvSpPr>
        <p:spPr>
          <a:xfrm>
            <a:off x="838200" y="1311910"/>
            <a:ext cx="10515600" cy="0"/>
          </a:xfrm>
          <a:custGeom>
            <a:avLst/>
            <a:gdLst/>
            <a:ahLst/>
            <a:cxnLst/>
            <a:rect l="l" t="t" r="r" b="b"/>
            <a:pathLst>
              <a:path w="10515600">
                <a:moveTo>
                  <a:pt x="0" y="0"/>
                </a:moveTo>
                <a:lnTo>
                  <a:pt x="10515600" y="0"/>
                </a:lnTo>
              </a:path>
            </a:pathLst>
          </a:custGeom>
          <a:ln w="28575">
            <a:solidFill>
              <a:srgbClr val="CF3C1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D644494F-B7B6-0ABC-858F-C3DA1F1E9F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3365863"/>
            <a:ext cx="5279848" cy="2807734"/>
          </a:xfrm>
          <a:prstGeom prst="rect">
            <a:avLst/>
          </a:prstGeom>
        </p:spPr>
      </p:pic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89A90FAB-1563-387E-0E53-949D369DAD07}"/>
              </a:ext>
            </a:extLst>
          </p:cNvPr>
          <p:cNvSpPr txBox="1">
            <a:spLocks/>
          </p:cNvSpPr>
          <p:nvPr/>
        </p:nvSpPr>
        <p:spPr>
          <a:xfrm>
            <a:off x="1028700" y="1520351"/>
            <a:ext cx="10134600" cy="10971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b="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 err="1">
                <a:latin typeface="+mn-ea"/>
              </a:rPr>
              <a:t>ReedShdfsfd</a:t>
            </a:r>
            <a:r>
              <a:rPr lang="en-US" altLang="ko-KR" sz="1600" dirty="0">
                <a:latin typeface="+mn-ea"/>
              </a:rPr>
              <a:t> </a:t>
            </a:r>
            <a:r>
              <a:rPr lang="ko-KR" altLang="en-US" sz="1600" dirty="0">
                <a:latin typeface="Malgun Gothic"/>
                <a:cs typeface="Malgun Gothic"/>
              </a:rPr>
              <a:t>알고</a:t>
            </a:r>
            <a:endParaRPr lang="en-US" altLang="ko-KR" sz="1600" dirty="0">
              <a:latin typeface="+mn-ea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Malgun Gothic"/>
                <a:cs typeface="Malgun Gothic"/>
              </a:rPr>
              <a:t>전진 </a:t>
            </a:r>
            <a:r>
              <a:rPr lang="en-US" altLang="ko-KR" sz="1400" dirty="0">
                <a:latin typeface="Malgun Gothic"/>
                <a:cs typeface="Malgun Gothic"/>
              </a:rPr>
              <a:t>+ </a:t>
            </a:r>
            <a:r>
              <a:rPr lang="ko-KR" altLang="en-US" sz="1400" b="1" dirty="0">
                <a:solidFill>
                  <a:srgbClr val="CF3C1C"/>
                </a:solidFill>
                <a:latin typeface="Malgun Gothic"/>
                <a:cs typeface="Malgun Gothic"/>
              </a:rPr>
              <a:t>후진</a:t>
            </a:r>
            <a:r>
              <a:rPr lang="ko-KR" altLang="en-US" sz="1400" dirty="0">
                <a:latin typeface="Malgun Gothic"/>
                <a:cs typeface="Malgun Gothic"/>
              </a:rPr>
              <a:t>이 가능한 </a:t>
            </a:r>
            <a:r>
              <a:rPr lang="ko-KR" altLang="ko-KR" sz="1400" dirty="0"/>
              <a:t>목표 위치와 방향까지</a:t>
            </a:r>
            <a:r>
              <a:rPr lang="ko-KR" altLang="en-US" sz="1400" dirty="0">
                <a:latin typeface="Malgun Gothic"/>
                <a:cs typeface="Malgun Gothic"/>
              </a:rPr>
              <a:t> 차량의 최단경로</a:t>
            </a:r>
            <a:endParaRPr lang="en-US" altLang="ko-KR" sz="1600" dirty="0">
              <a:latin typeface="+mn-ea"/>
              <a:cs typeface="Malgun Gothic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 err="1">
                <a:latin typeface="+mn-ea"/>
              </a:rPr>
              <a:t>Sdsds</a:t>
            </a:r>
            <a:endParaRPr lang="en-US" altLang="ko-KR" sz="1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886532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08272-0648-44BF-CEE8-5312BB9C2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2D3BBA40-416E-ED69-2EA3-DBE8FB0B8B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ko-KR" altLang="en-US" spc="-25" dirty="0"/>
              <a:t>피드백 </a:t>
            </a:r>
            <a:r>
              <a:rPr lang="en-US" altLang="ko-KR" spc="-25" dirty="0"/>
              <a:t>– Hybrid</a:t>
            </a:r>
            <a:r>
              <a:rPr lang="ko-KR" altLang="en-US" spc="-25" dirty="0"/>
              <a:t> </a:t>
            </a:r>
            <a:r>
              <a:rPr lang="en-US" altLang="ko-KR" spc="-25" dirty="0"/>
              <a:t>A* </a:t>
            </a:r>
            <a:r>
              <a:rPr lang="ko-KR" altLang="en-US" spc="-25" dirty="0"/>
              <a:t>성능 측정</a:t>
            </a:r>
            <a:r>
              <a:rPr lang="en-US" altLang="ko-KR" spc="-25" dirty="0"/>
              <a:t> </a:t>
            </a:r>
            <a:endParaRPr spc="-25"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7FF1EA34-31C2-1B1A-3588-56E4DCF83612}"/>
              </a:ext>
            </a:extLst>
          </p:cNvPr>
          <p:cNvSpPr/>
          <p:nvPr/>
        </p:nvSpPr>
        <p:spPr>
          <a:xfrm>
            <a:off x="838200" y="1311910"/>
            <a:ext cx="10515600" cy="0"/>
          </a:xfrm>
          <a:custGeom>
            <a:avLst/>
            <a:gdLst/>
            <a:ahLst/>
            <a:cxnLst/>
            <a:rect l="l" t="t" r="r" b="b"/>
            <a:pathLst>
              <a:path w="10515600">
                <a:moveTo>
                  <a:pt x="0" y="0"/>
                </a:moveTo>
                <a:lnTo>
                  <a:pt x="10515600" y="0"/>
                </a:lnTo>
              </a:path>
            </a:pathLst>
          </a:custGeom>
          <a:ln w="28575">
            <a:solidFill>
              <a:srgbClr val="CF3C1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EF05CF7C-4F72-78B2-B236-CF10E8D14211}"/>
              </a:ext>
            </a:extLst>
          </p:cNvPr>
          <p:cNvSpPr txBox="1">
            <a:spLocks/>
          </p:cNvSpPr>
          <p:nvPr/>
        </p:nvSpPr>
        <p:spPr>
          <a:xfrm>
            <a:off x="1034878" y="1520351"/>
            <a:ext cx="10134600" cy="23898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b="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  <a:cs typeface="Malgun Gothic"/>
              </a:rPr>
              <a:t>테스트 스크립트 구성하여 성능 테스트</a:t>
            </a:r>
            <a:endParaRPr lang="en-US" altLang="ko-KR" sz="1600" dirty="0">
              <a:latin typeface="+mn-ea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+mn-ea"/>
              </a:rPr>
              <a:t>1</a:t>
            </a:r>
            <a:r>
              <a:rPr lang="ko-KR" altLang="en-US" sz="1400" dirty="0">
                <a:latin typeface="+mn-ea"/>
              </a:rPr>
              <a:t>번 탐색</a:t>
            </a:r>
            <a:endParaRPr lang="en-US" altLang="ko-KR" sz="1400" dirty="0">
              <a:latin typeface="+mn-ea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n-ea"/>
              </a:rPr>
              <a:t>메모리 </a:t>
            </a:r>
            <a:r>
              <a:rPr lang="en-US" altLang="ko-KR" sz="1400" dirty="0">
                <a:latin typeface="+mn-ea"/>
              </a:rPr>
              <a:t>0.13MB / </a:t>
            </a:r>
            <a:r>
              <a:rPr lang="ko-KR" altLang="en-US" sz="1400" dirty="0">
                <a:latin typeface="+mn-ea"/>
              </a:rPr>
              <a:t>시간 </a:t>
            </a:r>
            <a:r>
              <a:rPr lang="en-US" altLang="ko-KR" sz="1400" dirty="0">
                <a:latin typeface="+mn-ea"/>
              </a:rPr>
              <a:t>: 0.16ms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+mn-ea"/>
              </a:rPr>
              <a:t>2000</a:t>
            </a:r>
            <a:r>
              <a:rPr lang="ko-KR" altLang="en-US" sz="1400" dirty="0">
                <a:latin typeface="+mn-ea"/>
              </a:rPr>
              <a:t>번 탐색</a:t>
            </a:r>
            <a:endParaRPr lang="en-US" altLang="ko-KR" sz="1400" dirty="0">
              <a:latin typeface="+mn-ea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n-ea"/>
              </a:rPr>
              <a:t>메모리 </a:t>
            </a:r>
            <a:r>
              <a:rPr lang="en-US" altLang="ko-KR" sz="1400" dirty="0">
                <a:latin typeface="+mn-ea"/>
              </a:rPr>
              <a:t>0.55MB / </a:t>
            </a:r>
            <a:r>
              <a:rPr lang="ko-KR" altLang="en-US" sz="1400" dirty="0">
                <a:latin typeface="+mn-ea"/>
              </a:rPr>
              <a:t>시간 </a:t>
            </a:r>
            <a:r>
              <a:rPr lang="en-US" altLang="ko-KR" sz="1400" dirty="0">
                <a:latin typeface="+mn-ea"/>
              </a:rPr>
              <a:t>: 52.27ms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+mn-ea"/>
              </a:rPr>
              <a:t>5000</a:t>
            </a:r>
            <a:r>
              <a:rPr lang="ko-KR" altLang="en-US" sz="1400" dirty="0">
                <a:latin typeface="+mn-ea"/>
              </a:rPr>
              <a:t>번 </a:t>
            </a:r>
            <a:r>
              <a:rPr lang="en-US" altLang="ko-KR" sz="1400" dirty="0">
                <a:latin typeface="+mn-ea"/>
              </a:rPr>
              <a:t>(Max) </a:t>
            </a:r>
            <a:r>
              <a:rPr lang="ko-KR" altLang="en-US" sz="1400" dirty="0">
                <a:latin typeface="+mn-ea"/>
              </a:rPr>
              <a:t>탐색</a:t>
            </a:r>
            <a:endParaRPr lang="en-US" altLang="ko-KR" sz="1400" dirty="0">
              <a:latin typeface="+mn-ea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n-ea"/>
              </a:rPr>
              <a:t>메모리 </a:t>
            </a:r>
            <a:r>
              <a:rPr lang="en-US" altLang="ko-KR" sz="1400" dirty="0">
                <a:latin typeface="+mn-ea"/>
              </a:rPr>
              <a:t>1.18MB / </a:t>
            </a:r>
            <a:r>
              <a:rPr lang="ko-KR" altLang="en-US" sz="1400" dirty="0">
                <a:latin typeface="+mn-ea"/>
              </a:rPr>
              <a:t>시간 </a:t>
            </a:r>
            <a:r>
              <a:rPr lang="en-US" altLang="ko-KR" sz="1400" dirty="0">
                <a:latin typeface="+mn-ea"/>
              </a:rPr>
              <a:t>: 117.68ms</a:t>
            </a:r>
          </a:p>
        </p:txBody>
      </p:sp>
    </p:spTree>
    <p:extLst>
      <p:ext uri="{BB962C8B-B14F-4D97-AF65-F5344CB8AC3E}">
        <p14:creationId xmlns:p14="http://schemas.microsoft.com/office/powerpoint/2010/main" val="28688243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ko-KR" altLang="en-US" dirty="0"/>
              <a:t>향후</a:t>
            </a:r>
            <a:r>
              <a:rPr spc="-70" dirty="0"/>
              <a:t> </a:t>
            </a:r>
            <a:r>
              <a:rPr dirty="0"/>
              <a:t>진행</a:t>
            </a:r>
            <a:r>
              <a:rPr spc="-75" dirty="0"/>
              <a:t> </a:t>
            </a:r>
            <a:r>
              <a:rPr spc="-25" dirty="0"/>
              <a:t>계획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6938" y="1596898"/>
            <a:ext cx="9446261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95"/>
              </a:spcBef>
              <a:buFont typeface="Arial MT"/>
              <a:buChar char="•"/>
              <a:tabLst>
                <a:tab pos="240665" algn="l"/>
              </a:tabLst>
            </a:pPr>
            <a:r>
              <a:rPr lang="ko-KR" altLang="en-US" sz="1600" dirty="0">
                <a:latin typeface="Malgun Gothic"/>
                <a:cs typeface="Malgun Gothic"/>
              </a:rPr>
              <a:t>주차별 계획</a:t>
            </a:r>
            <a:endParaRPr sz="1600" dirty="0">
              <a:latin typeface="Malgun Gothic"/>
              <a:cs typeface="Malgun Gothic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838200" y="1311910"/>
            <a:ext cx="10515600" cy="0"/>
          </a:xfrm>
          <a:custGeom>
            <a:avLst/>
            <a:gdLst/>
            <a:ahLst/>
            <a:cxnLst/>
            <a:rect l="l" t="t" r="r" b="b"/>
            <a:pathLst>
              <a:path w="10515600">
                <a:moveTo>
                  <a:pt x="0" y="0"/>
                </a:moveTo>
                <a:lnTo>
                  <a:pt x="10515600" y="0"/>
                </a:lnTo>
              </a:path>
            </a:pathLst>
          </a:custGeom>
          <a:ln w="28575">
            <a:solidFill>
              <a:srgbClr val="CF3C1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529283"/>
              </p:ext>
            </p:extLst>
          </p:nvPr>
        </p:nvGraphicFramePr>
        <p:xfrm>
          <a:off x="2028825" y="2085975"/>
          <a:ext cx="8128000" cy="33337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194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709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37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주차</a:t>
                      </a:r>
                      <a:endParaRPr sz="120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내용</a:t>
                      </a:r>
                      <a:endParaRPr sz="120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비고</a:t>
                      </a:r>
                      <a:endParaRPr sz="120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1주차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렌더링</a:t>
                      </a:r>
                      <a:r>
                        <a:rPr sz="1200" b="1" spc="-1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기반 구축,</a:t>
                      </a:r>
                      <a:r>
                        <a:rPr sz="1200" b="1" spc="-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차량 </a:t>
                      </a:r>
                      <a:r>
                        <a:rPr sz="1200" b="1" spc="-10" dirty="0">
                          <a:latin typeface="Malgun Gothic"/>
                          <a:cs typeface="Malgun Gothic"/>
                        </a:rPr>
                        <a:t>조향/가속/제동/후진</a:t>
                      </a:r>
                      <a:endParaRPr sz="120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강체</a:t>
                      </a:r>
                      <a:r>
                        <a:rPr sz="1200" b="1" spc="-2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물리,</a:t>
                      </a:r>
                      <a:r>
                        <a:rPr sz="1200" b="1" spc="-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자전거</a:t>
                      </a:r>
                      <a:r>
                        <a:rPr sz="1200" b="1" spc="-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25" dirty="0">
                          <a:latin typeface="Malgun Gothic"/>
                          <a:cs typeface="Malgun Gothic"/>
                        </a:rPr>
                        <a:t>모델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2주차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길찾기,</a:t>
                      </a:r>
                      <a:r>
                        <a:rPr sz="1200" b="1" spc="-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차선</a:t>
                      </a:r>
                      <a:r>
                        <a:rPr sz="1200" b="1" spc="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추종,</a:t>
                      </a:r>
                      <a:r>
                        <a:rPr sz="1200" b="1" spc="-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20" dirty="0">
                          <a:latin typeface="Malgun Gothic"/>
                          <a:cs typeface="Malgun Gothic"/>
                        </a:rPr>
                        <a:t>차선변경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b="1" spc="-20" dirty="0">
                          <a:latin typeface="Malgun Gothic"/>
                          <a:cs typeface="Malgun Gothic"/>
                        </a:rPr>
                        <a:t>BT,</a:t>
                      </a:r>
                      <a:r>
                        <a:rPr sz="1200" b="1" spc="-3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스플라인</a:t>
                      </a:r>
                      <a:r>
                        <a:rPr sz="1200" b="1" spc="-4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그래프,</a:t>
                      </a:r>
                      <a:r>
                        <a:rPr sz="1200" b="1" spc="-4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A*,</a:t>
                      </a:r>
                      <a:r>
                        <a:rPr sz="1200" b="1" spc="-3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PurePursuit</a:t>
                      </a:r>
                      <a:r>
                        <a:rPr sz="1200" b="1" spc="-4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+</a:t>
                      </a:r>
                      <a:r>
                        <a:rPr sz="1200" b="1" spc="-4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25" dirty="0">
                          <a:latin typeface="Malgun Gothic"/>
                          <a:cs typeface="Malgun Gothic"/>
                        </a:rPr>
                        <a:t>PID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3주차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lang="ko-KR" altLang="en-US" sz="1200" b="1" dirty="0">
                          <a:latin typeface="Malgun Gothic"/>
                          <a:cs typeface="Malgun Gothic"/>
                        </a:rPr>
                        <a:t>주차 구현 및 단독 주행 튜닝 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lang="en-US" sz="1200" b="1" dirty="0">
                          <a:latin typeface="Malgun Gothic"/>
                          <a:cs typeface="Malgun Gothic"/>
                        </a:rPr>
                        <a:t>Reeds-Shepp, Hybrid A*</a:t>
                      </a:r>
                      <a:endParaRPr sz="1200" b="1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4주차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rgbClr val="F8D4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주행</a:t>
                      </a:r>
                      <a:r>
                        <a:rPr sz="1200" b="1" spc="-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AI</a:t>
                      </a:r>
                      <a:r>
                        <a:rPr sz="1200" b="1" spc="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:</a:t>
                      </a:r>
                      <a:r>
                        <a:rPr sz="1200" b="1" spc="-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앞차</a:t>
                      </a:r>
                      <a:r>
                        <a:rPr sz="1200" b="1" spc="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감지,</a:t>
                      </a:r>
                      <a:r>
                        <a:rPr sz="1200" b="1" spc="-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안전거리</a:t>
                      </a:r>
                      <a:r>
                        <a:rPr sz="1200" b="1" spc="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유지,</a:t>
                      </a:r>
                      <a:r>
                        <a:rPr sz="1200" b="1" spc="-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신호</a:t>
                      </a:r>
                      <a:r>
                        <a:rPr sz="1200" b="1" spc="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50" dirty="0">
                          <a:latin typeface="Malgun Gothic"/>
                          <a:cs typeface="Malgun Gothic"/>
                        </a:rPr>
                        <a:t>등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rgbClr val="F8D4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rgbClr val="F8D4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5주차</a:t>
                      </a:r>
                      <a:endParaRPr sz="120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추월</a:t>
                      </a:r>
                      <a:r>
                        <a:rPr sz="1200" b="1" spc="-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/</a:t>
                      </a:r>
                      <a:r>
                        <a:rPr sz="1200" b="1" spc="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solidFill>
                            <a:srgbClr val="CF3C1C"/>
                          </a:solidFill>
                          <a:latin typeface="Malgun Gothic"/>
                          <a:cs typeface="Malgun Gothic"/>
                        </a:rPr>
                        <a:t>도로 합류</a:t>
                      </a:r>
                      <a:r>
                        <a:rPr sz="1200" b="1" spc="-5" dirty="0">
                          <a:solidFill>
                            <a:srgbClr val="CF3C1C"/>
                          </a:solidFill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solidFill>
                            <a:srgbClr val="CF3C1C"/>
                          </a:solidFill>
                          <a:latin typeface="Malgun Gothic"/>
                          <a:cs typeface="Malgun Gothic"/>
                        </a:rPr>
                        <a:t>/</a:t>
                      </a:r>
                      <a:r>
                        <a:rPr sz="1200" b="1" spc="10" dirty="0">
                          <a:solidFill>
                            <a:srgbClr val="CF3C1C"/>
                          </a:solidFill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solidFill>
                            <a:srgbClr val="CF3C1C"/>
                          </a:solidFill>
                          <a:latin typeface="Malgun Gothic"/>
                          <a:cs typeface="Malgun Gothic"/>
                        </a:rPr>
                        <a:t>돌발</a:t>
                      </a:r>
                      <a:r>
                        <a:rPr sz="1200" b="1" spc="-5" dirty="0">
                          <a:solidFill>
                            <a:srgbClr val="CF3C1C"/>
                          </a:solidFill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solidFill>
                            <a:srgbClr val="CF3C1C"/>
                          </a:solidFill>
                          <a:latin typeface="Malgun Gothic"/>
                          <a:cs typeface="Malgun Gothic"/>
                        </a:rPr>
                        <a:t>대처</a:t>
                      </a:r>
                      <a:r>
                        <a:rPr sz="1200" b="1" spc="-5" dirty="0">
                          <a:solidFill>
                            <a:srgbClr val="CF3C1C"/>
                          </a:solidFill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solidFill>
                            <a:srgbClr val="CF3C1C"/>
                          </a:solidFill>
                          <a:latin typeface="Malgun Gothic"/>
                          <a:cs typeface="Malgun Gothic"/>
                        </a:rPr>
                        <a:t>(장애물</a:t>
                      </a:r>
                      <a:r>
                        <a:rPr sz="1200" b="1" spc="-5" dirty="0">
                          <a:solidFill>
                            <a:srgbClr val="CF3C1C"/>
                          </a:solidFill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25" dirty="0">
                          <a:solidFill>
                            <a:srgbClr val="CF3C1C"/>
                          </a:solidFill>
                          <a:latin typeface="Malgun Gothic"/>
                          <a:cs typeface="Malgun Gothic"/>
                        </a:rPr>
                        <a:t>우회)</a:t>
                      </a:r>
                      <a:endParaRPr sz="1200" dirty="0">
                        <a:solidFill>
                          <a:srgbClr val="CF3C1C"/>
                        </a:solidFill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6주차</a:t>
                      </a:r>
                      <a:endParaRPr sz="120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운전</a:t>
                      </a:r>
                      <a:r>
                        <a:rPr sz="1200" b="1" spc="-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스타일</a:t>
                      </a:r>
                      <a:r>
                        <a:rPr sz="1200" b="1" spc="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25" dirty="0">
                          <a:latin typeface="Malgun Gothic"/>
                          <a:cs typeface="Malgun Gothic"/>
                        </a:rPr>
                        <a:t>적용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파라미터</a:t>
                      </a:r>
                      <a:r>
                        <a:rPr sz="1200" b="1" spc="-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25" dirty="0">
                          <a:latin typeface="Malgun Gothic"/>
                          <a:cs typeface="Malgun Gothic"/>
                        </a:rPr>
                        <a:t>튜닝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7주차</a:t>
                      </a:r>
                      <a:endParaRPr sz="120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대규모</a:t>
                      </a:r>
                      <a:r>
                        <a:rPr sz="1200" b="1" spc="-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차량</a:t>
                      </a:r>
                      <a:r>
                        <a:rPr sz="1200" b="1" spc="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25" dirty="0">
                          <a:latin typeface="Malgun Gothic"/>
                          <a:cs typeface="Malgun Gothic"/>
                        </a:rPr>
                        <a:t>최적화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공간</a:t>
                      </a:r>
                      <a:r>
                        <a:rPr sz="1200" b="1" spc="-3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분할,</a:t>
                      </a:r>
                      <a:r>
                        <a:rPr sz="1200" b="1" spc="-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AI/렌더링</a:t>
                      </a:r>
                      <a:r>
                        <a:rPr sz="1200" b="1" spc="-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10" dirty="0">
                          <a:latin typeface="Malgun Gothic"/>
                          <a:cs typeface="Malgun Gothic"/>
                        </a:rPr>
                        <a:t>LOD,</a:t>
                      </a:r>
                      <a:r>
                        <a:rPr sz="1200" b="1" spc="-25" dirty="0">
                          <a:latin typeface="Malgun Gothic"/>
                          <a:cs typeface="Malgun Gothic"/>
                        </a:rPr>
                        <a:t> ECS</a:t>
                      </a:r>
                      <a:endParaRPr sz="120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8주차</a:t>
                      </a:r>
                      <a:endParaRPr sz="120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안정화</a:t>
                      </a:r>
                      <a:r>
                        <a:rPr sz="1200" b="1" spc="-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및</a:t>
                      </a:r>
                      <a:r>
                        <a:rPr sz="1200" b="1" spc="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25" dirty="0">
                          <a:latin typeface="Malgun Gothic"/>
                          <a:cs typeface="Malgun Gothic"/>
                        </a:rPr>
                        <a:t>폴리싱</a:t>
                      </a:r>
                      <a:endParaRPr sz="120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745</TotalTime>
  <Words>225</Words>
  <Application>Microsoft Office PowerPoint</Application>
  <PresentationFormat>와이드스크린</PresentationFormat>
  <Paragraphs>53</Paragraphs>
  <Slides>6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3" baseType="lpstr">
      <vt:lpstr>Arial MT</vt:lpstr>
      <vt:lpstr>Malgun Gothic</vt:lpstr>
      <vt:lpstr>Malgun Gothic</vt:lpstr>
      <vt:lpstr>Arial</vt:lpstr>
      <vt:lpstr>Calibri</vt:lpstr>
      <vt:lpstr>Times New Roman</vt:lpstr>
      <vt:lpstr>Office Theme</vt:lpstr>
      <vt:lpstr>4주차 개발 진행 보고</vt:lpstr>
      <vt:lpstr>4주차 진행 현황</vt:lpstr>
      <vt:lpstr>4주차 진행 현황 – 결과 영상</vt:lpstr>
      <vt:lpstr>작업내용 – 주차(출차) 구현</vt:lpstr>
      <vt:lpstr>피드백 – Hybrid A* 성능 측정 </vt:lpstr>
      <vt:lpstr>향후 진행 계획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박인영</dc:creator>
  <cp:lastModifiedBy>박인영</cp:lastModifiedBy>
  <cp:revision>20</cp:revision>
  <dcterms:created xsi:type="dcterms:W3CDTF">2026-07-10T04:44:00Z</dcterms:created>
  <dcterms:modified xsi:type="dcterms:W3CDTF">2026-07-16T09:31:19Z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2026-07-03T00:00:00Z</vt:filetime>
  </property>
  <property fmtid="{D5CDD505-2E9C-101B-9397-08002B2CF9AE}" pid="4" name="Creator">
    <vt:lpwstr>Microsoft® PowerPoint® Microsoft 365용</vt:lpwstr>
  </property>
  <property fmtid="{D5CDD505-2E9C-101B-9397-08002B2CF9AE}" pid="5" name="LastSaved">
    <vt:filetime>2026-07-10T00:00:00Z</vt:filetime>
  </property>
  <property fmtid="{D5CDD505-2E9C-101B-9397-08002B2CF9AE}" pid="6" name="Producer">
    <vt:lpwstr>Microsoft® PowerPoint® Microsoft 365용</vt:lpwstr>
  </property>
</Properties>
</file>