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80" r:id="rId4"/>
    <p:sldId id="267" r:id="rId5"/>
    <p:sldId id="258" r:id="rId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D4CC"/>
    <a:srgbClr val="A6A6A6"/>
    <a:srgbClr val="CF3C1C"/>
    <a:srgbClr val="E9EDF4"/>
    <a:srgbClr val="0070C0"/>
    <a:srgbClr val="942C14"/>
    <a:srgbClr val="7D2611"/>
    <a:srgbClr val="969696"/>
    <a:srgbClr val="B9B9B9"/>
    <a:srgbClr val="25A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8" autoAdjust="0"/>
    <p:restoredTop sz="85185" autoAdjust="0"/>
  </p:normalViewPr>
  <p:slideViewPr>
    <p:cSldViewPr>
      <p:cViewPr varScale="1">
        <p:scale>
          <a:sx n="108" d="100"/>
          <a:sy n="108" d="100"/>
        </p:scale>
        <p:origin x="426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912881-8C8D-44A6-AE66-9F7D64B0003F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40BF9F-FA8F-4CB1-839A-D4536A9CAC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829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0BF9F-FA8F-4CB1-839A-D4536A9CACB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74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49E03-83B8-3324-D7CB-210E94B19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97C7EA-76DE-0BF2-9DC1-E046199DC9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B17FAF-F0A3-0F6F-2882-C65926ACE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0357A5-8EFB-3567-8553-2C448DAC71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0BF9F-FA8F-4CB1-839A-D4536A9CACB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2885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0BF9F-FA8F-4CB1-839A-D4536A9CACB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40845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0BF9F-FA8F-4CB1-839A-D4536A9CACB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4638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2932" y="2572334"/>
            <a:ext cx="6614795" cy="848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84403"/>
            <a:ext cx="610425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90725" y="2085975"/>
            <a:ext cx="8210550" cy="3333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2932" y="3695827"/>
            <a:ext cx="2962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F3C1C"/>
                </a:solidFill>
                <a:latin typeface="Malgun Gothic"/>
                <a:cs typeface="Malgun Gothic"/>
              </a:rPr>
              <a:t>자동차</a:t>
            </a:r>
            <a:r>
              <a:rPr sz="2400" spc="5" dirty="0">
                <a:solidFill>
                  <a:srgbClr val="CF3C1C"/>
                </a:solidFill>
                <a:latin typeface="Malgun Gothic"/>
                <a:cs typeface="Malgun Gothic"/>
              </a:rPr>
              <a:t> </a:t>
            </a:r>
            <a:r>
              <a:rPr sz="2400" dirty="0">
                <a:solidFill>
                  <a:srgbClr val="CF3C1C"/>
                </a:solidFill>
                <a:latin typeface="Malgun Gothic"/>
                <a:cs typeface="Malgun Gothic"/>
              </a:rPr>
              <a:t>AI </a:t>
            </a:r>
            <a:r>
              <a:rPr sz="2400" spc="-10" dirty="0">
                <a:solidFill>
                  <a:srgbClr val="CF3C1C"/>
                </a:solidFill>
                <a:latin typeface="Malgun Gothic"/>
                <a:cs typeface="Malgun Gothic"/>
              </a:rPr>
              <a:t>시뮬레이션</a:t>
            </a:r>
            <a:endParaRPr sz="2400">
              <a:latin typeface="Malgun Gothic"/>
              <a:cs typeface="Malgun Gothic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400" dirty="0">
                <a:solidFill>
                  <a:srgbClr val="393939"/>
                </a:solidFill>
              </a:rPr>
              <a:t>6</a:t>
            </a:r>
            <a:r>
              <a:rPr sz="5400" dirty="0">
                <a:solidFill>
                  <a:srgbClr val="393939"/>
                </a:solidFill>
              </a:rPr>
              <a:t>주차</a:t>
            </a:r>
            <a:r>
              <a:rPr sz="5400" spc="-10" dirty="0">
                <a:solidFill>
                  <a:srgbClr val="393939"/>
                </a:solidFill>
              </a:rPr>
              <a:t> </a:t>
            </a:r>
            <a:r>
              <a:rPr sz="5400" dirty="0">
                <a:solidFill>
                  <a:srgbClr val="393939"/>
                </a:solidFill>
              </a:rPr>
              <a:t>개발 진행</a:t>
            </a:r>
            <a:r>
              <a:rPr sz="5400" spc="-5" dirty="0">
                <a:solidFill>
                  <a:srgbClr val="393939"/>
                </a:solidFill>
              </a:rPr>
              <a:t> </a:t>
            </a:r>
            <a:r>
              <a:rPr sz="5400" spc="-25" dirty="0">
                <a:solidFill>
                  <a:srgbClr val="393939"/>
                </a:solidFill>
              </a:rPr>
              <a:t>보고</a:t>
            </a:r>
            <a:endParaRPr sz="5400" dirty="0"/>
          </a:p>
        </p:txBody>
      </p:sp>
      <p:sp>
        <p:nvSpPr>
          <p:cNvPr id="4" name="object 4"/>
          <p:cNvSpPr txBox="1"/>
          <p:nvPr/>
        </p:nvSpPr>
        <p:spPr>
          <a:xfrm>
            <a:off x="9659239" y="6299403"/>
            <a:ext cx="205740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Malgun Gothic"/>
                <a:cs typeface="Malgun Gothic"/>
              </a:rPr>
              <a:t>2026</a:t>
            </a:r>
            <a:r>
              <a:rPr sz="1050" spc="-10" dirty="0">
                <a:latin typeface="Malgun Gothic"/>
                <a:cs typeface="Malgun Gothic"/>
              </a:rPr>
              <a:t> </a:t>
            </a:r>
            <a:r>
              <a:rPr sz="1050" dirty="0">
                <a:latin typeface="Malgun Gothic"/>
                <a:cs typeface="Malgun Gothic"/>
              </a:rPr>
              <a:t>펄어비스</a:t>
            </a:r>
            <a:r>
              <a:rPr sz="1050" spc="-20" dirty="0">
                <a:latin typeface="Malgun Gothic"/>
                <a:cs typeface="Malgun Gothic"/>
              </a:rPr>
              <a:t> </a:t>
            </a:r>
            <a:r>
              <a:rPr sz="1050" dirty="0">
                <a:latin typeface="Malgun Gothic"/>
                <a:cs typeface="Malgun Gothic"/>
              </a:rPr>
              <a:t>여름</a:t>
            </a:r>
            <a:r>
              <a:rPr sz="1050" spc="-10" dirty="0">
                <a:latin typeface="Malgun Gothic"/>
                <a:cs typeface="Malgun Gothic"/>
              </a:rPr>
              <a:t> </a:t>
            </a:r>
            <a:r>
              <a:rPr sz="1050" dirty="0">
                <a:latin typeface="Malgun Gothic"/>
                <a:cs typeface="Malgun Gothic"/>
              </a:rPr>
              <a:t>인턴 | </a:t>
            </a:r>
            <a:r>
              <a:rPr sz="1050" spc="-25" dirty="0">
                <a:latin typeface="Malgun Gothic"/>
                <a:cs typeface="Malgun Gothic"/>
              </a:rPr>
              <a:t>박인영</a:t>
            </a:r>
            <a:endParaRPr sz="105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78A6384-9146-4939-394F-B34ADED8A35A}"/>
              </a:ext>
            </a:extLst>
          </p:cNvPr>
          <p:cNvSpPr txBox="1">
            <a:spLocks/>
          </p:cNvSpPr>
          <p:nvPr/>
        </p:nvSpPr>
        <p:spPr>
          <a:xfrm>
            <a:off x="1028700" y="1520351"/>
            <a:ext cx="10134600" cy="30515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목표 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b="1" dirty="0">
                <a:latin typeface="+mn-ea"/>
              </a:rPr>
              <a:t>자연스러운 도시 주행 </a:t>
            </a:r>
            <a:r>
              <a:rPr lang="en-US" altLang="ko-KR" sz="1600" b="1" dirty="0">
                <a:latin typeface="+mn-ea"/>
              </a:rPr>
              <a:t>+ </a:t>
            </a:r>
            <a:r>
              <a:rPr lang="ko-KR" altLang="en-US" sz="1600" b="1" dirty="0">
                <a:latin typeface="+mn-ea"/>
              </a:rPr>
              <a:t>유저 차와 상호작용</a:t>
            </a:r>
            <a:endParaRPr lang="en-US" altLang="ko-KR" sz="1600" b="1" dirty="0">
              <a:latin typeface="+mn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이번주 작업</a:t>
            </a:r>
            <a:endParaRPr lang="en-US" altLang="ko-KR" sz="1600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도로 데이터 표현 방식 변경</a:t>
            </a:r>
            <a:endParaRPr lang="en-US" altLang="ko-KR" sz="1400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Malgun Gothic"/>
                <a:cs typeface="Malgun Gothic"/>
              </a:rPr>
              <a:t>주행 플랜 시뮬레이션 </a:t>
            </a:r>
            <a:r>
              <a:rPr lang="en-US" altLang="ko-KR" sz="1400" dirty="0">
                <a:latin typeface="Malgun Gothic"/>
                <a:cs typeface="Malgun Gothic"/>
              </a:rPr>
              <a:t>(</a:t>
            </a:r>
            <a:r>
              <a:rPr lang="ko-KR" altLang="en-US" sz="1400" dirty="0">
                <a:latin typeface="Malgun Gothic"/>
                <a:cs typeface="Malgun Gothic"/>
              </a:rPr>
              <a:t>폐기</a:t>
            </a:r>
            <a:r>
              <a:rPr lang="en-US" altLang="ko-KR" sz="1400" dirty="0">
                <a:latin typeface="Malgun Gothic"/>
                <a:cs typeface="Malgun Gothic"/>
              </a:rPr>
              <a:t>)</a:t>
            </a:r>
            <a:endParaRPr lang="en-US" altLang="ko-KR" sz="1400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장애물 회피</a:t>
            </a:r>
            <a:endParaRPr lang="en-US" altLang="ko-KR" sz="1400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운전 스타일 파라미터화</a:t>
            </a:r>
            <a:endParaRPr lang="en-US" altLang="ko-KR" sz="1400" dirty="0">
              <a:latin typeface="+mn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추가 작업</a:t>
            </a:r>
            <a:endParaRPr lang="en-US" altLang="ko-KR" sz="1600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Malgun Gothic"/>
                <a:cs typeface="Malgun Gothic"/>
              </a:rPr>
              <a:t>OBB </a:t>
            </a:r>
            <a:r>
              <a:rPr lang="ko-KR" altLang="en-US" sz="1400" dirty="0">
                <a:latin typeface="Malgun Gothic"/>
                <a:cs typeface="Malgun Gothic"/>
              </a:rPr>
              <a:t>최적화</a:t>
            </a:r>
            <a:endParaRPr lang="en-US" altLang="ko-KR" sz="1400" dirty="0">
              <a:latin typeface="Malgun Gothic"/>
              <a:cs typeface="Malgun Gothic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6</a:t>
            </a:r>
            <a:r>
              <a:rPr dirty="0"/>
              <a:t>주차</a:t>
            </a:r>
            <a:r>
              <a:rPr spc="-50" dirty="0"/>
              <a:t> </a:t>
            </a:r>
            <a:r>
              <a:rPr dirty="0"/>
              <a:t>진행</a:t>
            </a:r>
            <a:r>
              <a:rPr spc="-50" dirty="0"/>
              <a:t> </a:t>
            </a:r>
            <a:r>
              <a:rPr spc="-25" dirty="0"/>
              <a:t>현황</a:t>
            </a:r>
          </a:p>
        </p:txBody>
      </p:sp>
      <p:sp>
        <p:nvSpPr>
          <p:cNvPr id="4" name="object 4"/>
          <p:cNvSpPr/>
          <p:nvPr/>
        </p:nvSpPr>
        <p:spPr>
          <a:xfrm>
            <a:off x="838200" y="1311910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28575">
            <a:solidFill>
              <a:srgbClr val="CF3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07376-BB65-3A9B-0C7C-C1858D82A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99773436-FEEE-D3F3-3DB3-19CBE6D8C5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ko-KR" altLang="en-US" spc="-25" dirty="0"/>
              <a:t>결과 영상</a:t>
            </a:r>
            <a:endParaRPr spc="-25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C4EE4B8-DEA3-9649-E686-573E3C5A4D6C}"/>
              </a:ext>
            </a:extLst>
          </p:cNvPr>
          <p:cNvSpPr/>
          <p:nvPr/>
        </p:nvSpPr>
        <p:spPr>
          <a:xfrm>
            <a:off x="838200" y="1311910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28575">
            <a:solidFill>
              <a:srgbClr val="CF3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4A1E80C-DD82-12E2-99A0-ACC8A83BF61F}"/>
              </a:ext>
            </a:extLst>
          </p:cNvPr>
          <p:cNvSpPr/>
          <p:nvPr/>
        </p:nvSpPr>
        <p:spPr>
          <a:xfrm>
            <a:off x="1600200" y="1905000"/>
            <a:ext cx="9296400" cy="419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8818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3042C-DA12-125F-69ED-DA6BB20CA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FF55A566-7971-6A1F-76B0-E42C687A59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ko-KR" altLang="en-US" spc="-25" dirty="0"/>
              <a:t>작업내용 </a:t>
            </a:r>
            <a:r>
              <a:rPr lang="en-US" altLang="ko-KR" spc="-25" dirty="0"/>
              <a:t>– </a:t>
            </a:r>
            <a:r>
              <a:rPr lang="ko-KR" altLang="en-US" spc="-25" dirty="0"/>
              <a:t>구조 변경</a:t>
            </a:r>
            <a:endParaRPr spc="-25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1C66AFD-E123-1EA0-16A7-4E57587C4F24}"/>
              </a:ext>
            </a:extLst>
          </p:cNvPr>
          <p:cNvSpPr/>
          <p:nvPr/>
        </p:nvSpPr>
        <p:spPr>
          <a:xfrm>
            <a:off x="838200" y="1311910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28575">
            <a:solidFill>
              <a:srgbClr val="CF3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E32851F-5CA3-4F15-215B-873F94B2F368}"/>
              </a:ext>
            </a:extLst>
          </p:cNvPr>
          <p:cNvSpPr txBox="1">
            <a:spLocks/>
          </p:cNvSpPr>
          <p:nvPr/>
        </p:nvSpPr>
        <p:spPr>
          <a:xfrm>
            <a:off x="1028700" y="1520351"/>
            <a:ext cx="10134600" cy="4898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+mn-ea"/>
                <a:cs typeface="Malgun Gothic"/>
              </a:rPr>
              <a:t>4</a:t>
            </a:r>
            <a:r>
              <a:rPr lang="ko-KR" altLang="en-US" sz="1600" dirty="0">
                <a:latin typeface="+mn-ea"/>
                <a:cs typeface="Malgun Gothic"/>
              </a:rPr>
              <a:t>주차 작업 </a:t>
            </a:r>
            <a:r>
              <a:rPr lang="en-US" altLang="ko-KR" sz="1600" dirty="0">
                <a:latin typeface="+mn-ea"/>
                <a:cs typeface="Malgun Gothic"/>
              </a:rPr>
              <a:t>(</a:t>
            </a:r>
            <a:r>
              <a:rPr lang="ko-KR" altLang="en-US" sz="1600" dirty="0">
                <a:latin typeface="+mn-ea"/>
                <a:cs typeface="Malgun Gothic"/>
              </a:rPr>
              <a:t>앞차 추종</a:t>
            </a:r>
            <a:r>
              <a:rPr lang="en-US" altLang="ko-KR" sz="1600" dirty="0">
                <a:latin typeface="+mn-ea"/>
                <a:cs typeface="Malgun Gothic"/>
              </a:rPr>
              <a:t>, </a:t>
            </a:r>
            <a:r>
              <a:rPr lang="ko-KR" altLang="en-US" sz="1600" dirty="0">
                <a:latin typeface="+mn-ea"/>
                <a:cs typeface="Malgun Gothic"/>
              </a:rPr>
              <a:t>차선 변경</a:t>
            </a:r>
            <a:r>
              <a:rPr lang="en-US" altLang="ko-KR" sz="1600" dirty="0">
                <a:latin typeface="+mn-ea"/>
                <a:cs typeface="Malgun Gothic"/>
              </a:rPr>
              <a:t>)</a:t>
            </a:r>
            <a:endParaRPr lang="en-US" altLang="ko-KR" sz="1200" dirty="0">
              <a:latin typeface="Malgun Gothic"/>
              <a:cs typeface="Malgun Gothic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IDM : </a:t>
            </a:r>
            <a:r>
              <a:rPr lang="ko-KR" altLang="en-US" sz="1400" dirty="0"/>
              <a:t>앞차와 안전거리를 유지하는 가속도 계산식</a:t>
            </a:r>
            <a:endParaRPr lang="en-US" altLang="ko-KR" sz="1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n-ea"/>
                <a:cs typeface="Malgun Gothic"/>
              </a:rPr>
              <a:t>MOBIL : </a:t>
            </a:r>
            <a:r>
              <a:rPr lang="ko-KR" altLang="en-US" sz="1400" dirty="0">
                <a:latin typeface="+mn-ea"/>
                <a:cs typeface="Malgun Gothic"/>
              </a:rPr>
              <a:t>옆차선에 안전하게 끼어들기 위한 판별식</a:t>
            </a:r>
            <a:endParaRPr lang="en-US" altLang="ko-KR" sz="1600" dirty="0">
              <a:latin typeface="+mn-ea"/>
              <a:cs typeface="Malgun Gothic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  <a:cs typeface="Malgun Gothic"/>
              </a:rPr>
              <a:t>문제점</a:t>
            </a:r>
            <a:endParaRPr lang="en-US" altLang="ko-KR" sz="1200" dirty="0">
              <a:latin typeface="Malgun Gothic"/>
              <a:cs typeface="Malgun Gothic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차선에 종속적</a:t>
            </a:r>
            <a:r>
              <a:rPr lang="en-US" altLang="ko-KR" sz="1400" dirty="0"/>
              <a:t>, </a:t>
            </a:r>
            <a:r>
              <a:rPr lang="ko-KR" altLang="en-US" sz="1400" dirty="0"/>
              <a:t>차선 사이 걸쳐 있는 차가 표현이 안됨</a:t>
            </a:r>
            <a:endParaRPr lang="en-US" altLang="ko-KR" sz="1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상태 확장이 어려움</a:t>
            </a:r>
            <a:r>
              <a:rPr lang="en-US" altLang="ko-KR" sz="1400" dirty="0"/>
              <a:t>, IDM</a:t>
            </a:r>
            <a:r>
              <a:rPr lang="ko-KR" altLang="en-US" sz="1400" dirty="0"/>
              <a:t>이 행동 결정 </a:t>
            </a:r>
            <a:r>
              <a:rPr lang="en-US" altLang="ko-KR" sz="1400" dirty="0"/>
              <a:t>(</a:t>
            </a:r>
            <a:r>
              <a:rPr lang="ko-KR" altLang="en-US" sz="1400" dirty="0"/>
              <a:t>가속</a:t>
            </a:r>
            <a:r>
              <a:rPr lang="en-US" altLang="ko-KR" sz="1400" dirty="0"/>
              <a:t>, </a:t>
            </a:r>
            <a:r>
              <a:rPr lang="ko-KR" altLang="en-US" sz="1400" dirty="0"/>
              <a:t>감속 등</a:t>
            </a:r>
            <a:r>
              <a:rPr lang="en-US" altLang="ko-KR" sz="1400" dirty="0"/>
              <a:t>) + </a:t>
            </a:r>
            <a:r>
              <a:rPr lang="ko-KR" altLang="en-US" sz="1400" dirty="0"/>
              <a:t>가속도 컨트롤 까지 한번에 함 </a:t>
            </a:r>
            <a:endParaRPr lang="en-US" altLang="ko-KR" sz="1400" dirty="0"/>
          </a:p>
          <a:p>
            <a:pPr lvl="1">
              <a:lnSpc>
                <a:spcPct val="150000"/>
              </a:lnSpc>
            </a:pPr>
            <a:r>
              <a:rPr lang="en-US" altLang="ko-KR" sz="1400" dirty="0"/>
              <a:t>	</a:t>
            </a:r>
            <a:r>
              <a:rPr lang="en-US" altLang="ko-KR" sz="1200" dirty="0">
                <a:solidFill>
                  <a:srgbClr val="CF3C1C"/>
                </a:solidFill>
              </a:rPr>
              <a:t>=&gt; IDM + MOBIL </a:t>
            </a:r>
            <a:r>
              <a:rPr lang="ko-KR" altLang="en-US" sz="1200" dirty="0">
                <a:solidFill>
                  <a:srgbClr val="CF3C1C"/>
                </a:solidFill>
              </a:rPr>
              <a:t>구조 문제</a:t>
            </a:r>
            <a:r>
              <a:rPr lang="en-US" altLang="ko-KR" sz="1200" dirty="0">
                <a:solidFill>
                  <a:srgbClr val="CF3C1C"/>
                </a:solidFill>
              </a:rPr>
              <a:t>??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  <a:cs typeface="Malgun Gothic"/>
              </a:rPr>
              <a:t>수정 방향</a:t>
            </a:r>
            <a:endParaRPr lang="en-US" altLang="ko-KR" sz="1200" dirty="0">
              <a:latin typeface="Malgun Gothic"/>
              <a:cs typeface="Malgun Gothic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도로 데이터 표현 방식 변경</a:t>
            </a:r>
            <a:endParaRPr lang="en-US" altLang="ko-KR" sz="1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주행 행동 플랜 평가 </a:t>
            </a:r>
            <a:r>
              <a:rPr lang="en-US" altLang="ko-KR" sz="1400" dirty="0"/>
              <a:t>(</a:t>
            </a:r>
            <a:r>
              <a:rPr lang="ko-KR" altLang="en-US" sz="1400" dirty="0"/>
              <a:t>상위</a:t>
            </a:r>
            <a:r>
              <a:rPr lang="en-US" altLang="ko-KR" sz="1400" dirty="0"/>
              <a:t>)</a:t>
            </a:r>
            <a:r>
              <a:rPr lang="ko-KR" altLang="en-US" sz="1400" dirty="0"/>
              <a:t> </a:t>
            </a:r>
            <a:r>
              <a:rPr lang="en-US" altLang="ko-KR" sz="1400" dirty="0"/>
              <a:t>+</a:t>
            </a:r>
            <a:r>
              <a:rPr lang="ko-KR" altLang="en-US" sz="1400" dirty="0"/>
              <a:t> </a:t>
            </a:r>
            <a:r>
              <a:rPr lang="en-US" altLang="ko-KR" sz="1400" dirty="0"/>
              <a:t>PID</a:t>
            </a:r>
            <a:r>
              <a:rPr lang="ko-KR" altLang="en-US" sz="1400" dirty="0"/>
              <a:t>컨트롤러 </a:t>
            </a:r>
            <a:r>
              <a:rPr lang="en-US" altLang="ko-KR" sz="1400" dirty="0"/>
              <a:t>(</a:t>
            </a:r>
            <a:r>
              <a:rPr lang="ko-KR" altLang="en-US" sz="1400" dirty="0"/>
              <a:t>하위</a:t>
            </a:r>
            <a:r>
              <a:rPr lang="en-US" altLang="ko-KR" sz="1400" dirty="0"/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latin typeface="Malgun Gothic"/>
              <a:cs typeface="Malgun Gothic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latin typeface="Malgun Gothic"/>
              <a:cs typeface="Malgun Gothic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88653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ko-KR" altLang="en-US" dirty="0"/>
              <a:t>향후</a:t>
            </a:r>
            <a:r>
              <a:rPr spc="-70" dirty="0"/>
              <a:t> </a:t>
            </a:r>
            <a:r>
              <a:rPr dirty="0"/>
              <a:t>진행</a:t>
            </a:r>
            <a:r>
              <a:rPr spc="-75" dirty="0"/>
              <a:t> </a:t>
            </a:r>
            <a:r>
              <a:rPr spc="-25" dirty="0"/>
              <a:t>계획</a:t>
            </a:r>
          </a:p>
        </p:txBody>
      </p:sp>
      <p:sp>
        <p:nvSpPr>
          <p:cNvPr id="5" name="object 5"/>
          <p:cNvSpPr/>
          <p:nvPr/>
        </p:nvSpPr>
        <p:spPr>
          <a:xfrm>
            <a:off x="838200" y="1311910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28575">
            <a:solidFill>
              <a:srgbClr val="CF3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781940"/>
              </p:ext>
            </p:extLst>
          </p:nvPr>
        </p:nvGraphicFramePr>
        <p:xfrm>
          <a:off x="2032000" y="2484836"/>
          <a:ext cx="8128000" cy="37094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9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0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27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주차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내용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비고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797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1주차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렌더링</a:t>
                      </a:r>
                      <a:r>
                        <a:rPr sz="120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기반 구축,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차량 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조향/가속/제동/후진</a:t>
                      </a:r>
                      <a:endParaRPr sz="1200" b="1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강체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물리,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자전거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모델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45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2주차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길찾기,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차선</a:t>
                      </a:r>
                      <a:r>
                        <a:rPr sz="1200" b="1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추종,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차선변경</a:t>
                      </a:r>
                      <a:endParaRPr sz="1200" b="1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BT,</a:t>
                      </a:r>
                      <a:r>
                        <a:rPr sz="1200" b="1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스플라인</a:t>
                      </a:r>
                      <a:r>
                        <a:rPr sz="1200" b="1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그래프,</a:t>
                      </a:r>
                      <a:r>
                        <a:rPr sz="1200" b="1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A*,</a:t>
                      </a:r>
                      <a:r>
                        <a:rPr sz="1200" b="1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PurePursuit</a:t>
                      </a:r>
                      <a:r>
                        <a:rPr sz="1200" b="1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+</a:t>
                      </a:r>
                      <a:r>
                        <a:rPr sz="1200" b="1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PID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797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3주차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lang="ko-KR" altLang="en-US" sz="1200" b="1" dirty="0">
                          <a:latin typeface="Malgun Gothic"/>
                          <a:cs typeface="Malgun Gothic"/>
                        </a:rPr>
                        <a:t>주차 구현 및 단독 주행 튜닝 </a:t>
                      </a:r>
                      <a:endParaRPr sz="1200" b="1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lang="en-US" sz="1200" b="1" dirty="0">
                          <a:latin typeface="Malgun Gothic"/>
                          <a:cs typeface="Malgun Gothic"/>
                        </a:rPr>
                        <a:t>Reeds-Shepp</a:t>
                      </a:r>
                      <a:endParaRPr sz="1200" b="1" dirty="0">
                        <a:latin typeface="Malgun Gothic"/>
                        <a:cs typeface="Malgun Gothic"/>
                      </a:endParaRPr>
                    </a:p>
                  </a:txBody>
                  <a:tcPr marL="0" marR="0" marT="92075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797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4주차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주행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AI</a:t>
                      </a:r>
                      <a:r>
                        <a:rPr sz="1200" b="1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앞차</a:t>
                      </a:r>
                      <a:r>
                        <a:rPr sz="1200" b="1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감지,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안전거리</a:t>
                      </a:r>
                      <a:r>
                        <a:rPr sz="1200" b="1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유지,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신호</a:t>
                      </a:r>
                      <a:r>
                        <a:rPr sz="1200" b="1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50" dirty="0">
                          <a:latin typeface="Malgun Gothic"/>
                          <a:cs typeface="Malgun Gothic"/>
                        </a:rPr>
                        <a:t>등</a:t>
                      </a:r>
                      <a:endParaRPr sz="1200" b="1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lang="en-US" sz="1200" b="1" spc="-20" dirty="0">
                          <a:latin typeface="Malgun Gothic"/>
                          <a:cs typeface="Malgun Gothic"/>
                        </a:rPr>
                        <a:t>IDM, MOBIL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797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spc="-25" dirty="0">
                          <a:solidFill>
                            <a:schemeClr val="tx1"/>
                          </a:solidFill>
                          <a:latin typeface="Malgun Gothic"/>
                          <a:cs typeface="Malgun Gothic"/>
                        </a:rPr>
                        <a:t>5주차</a:t>
                      </a:r>
                      <a:endParaRPr sz="1200" dirty="0">
                        <a:solidFill>
                          <a:schemeClr val="tx1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92075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b="1" dirty="0">
                          <a:solidFill>
                            <a:schemeClr val="tx1"/>
                          </a:solidFill>
                          <a:latin typeface="Malgun Gothic"/>
                          <a:cs typeface="Malgun Gothic"/>
                        </a:rPr>
                        <a:t>추월</a:t>
                      </a:r>
                      <a:r>
                        <a:rPr sz="1200" b="1" spc="-5" dirty="0">
                          <a:solidFill>
                            <a:schemeClr val="tx1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chemeClr val="tx1"/>
                          </a:solidFill>
                          <a:latin typeface="Malgun Gothic"/>
                          <a:cs typeface="Malgun Gothic"/>
                        </a:rPr>
                        <a:t>/</a:t>
                      </a:r>
                      <a:r>
                        <a:rPr sz="1200" b="1" spc="10" dirty="0">
                          <a:solidFill>
                            <a:schemeClr val="tx1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chemeClr val="tx1"/>
                          </a:solidFill>
                          <a:latin typeface="Malgun Gothic"/>
                          <a:cs typeface="Malgun Gothic"/>
                        </a:rPr>
                        <a:t>도로 합류</a:t>
                      </a:r>
                      <a:r>
                        <a:rPr sz="1200" b="1" spc="-5" dirty="0">
                          <a:solidFill>
                            <a:schemeClr val="tx1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chemeClr val="tx1"/>
                          </a:solidFill>
                          <a:latin typeface="Malgun Gothic"/>
                          <a:cs typeface="Malgun Gothic"/>
                        </a:rPr>
                        <a:t>/</a:t>
                      </a:r>
                      <a:r>
                        <a:rPr sz="1200" b="1" spc="10" dirty="0">
                          <a:solidFill>
                            <a:schemeClr val="tx1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ko-KR" altLang="en-US" sz="1200" b="1" spc="10" dirty="0">
                          <a:solidFill>
                            <a:schemeClr val="tx1"/>
                          </a:solidFill>
                          <a:latin typeface="Malgun Gothic"/>
                          <a:cs typeface="Malgun Gothic"/>
                        </a:rPr>
                        <a:t>장애물</a:t>
                      </a:r>
                      <a:r>
                        <a:rPr sz="1200" b="1" spc="-5" dirty="0">
                          <a:solidFill>
                            <a:schemeClr val="tx1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 err="1">
                          <a:solidFill>
                            <a:schemeClr val="tx1"/>
                          </a:solidFill>
                          <a:latin typeface="Malgun Gothic"/>
                          <a:cs typeface="Malgun Gothic"/>
                        </a:rPr>
                        <a:t>대처</a:t>
                      </a:r>
                      <a:r>
                        <a:rPr sz="1200" b="1" spc="-5" dirty="0">
                          <a:solidFill>
                            <a:schemeClr val="tx1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chemeClr val="tx1"/>
                          </a:solidFill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Malgun Gothic"/>
                          <a:cs typeface="Malgun Gothic"/>
                        </a:rPr>
                        <a:t>차선</a:t>
                      </a:r>
                      <a:r>
                        <a:rPr sz="1200" b="1" spc="-5" dirty="0">
                          <a:solidFill>
                            <a:schemeClr val="tx1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solidFill>
                            <a:schemeClr val="tx1"/>
                          </a:solidFill>
                          <a:latin typeface="Malgun Gothic"/>
                          <a:cs typeface="Malgun Gothic"/>
                        </a:rPr>
                        <a:t>우회)</a:t>
                      </a:r>
                      <a:endParaRPr sz="1200" b="1" dirty="0">
                        <a:solidFill>
                          <a:schemeClr val="tx1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9144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endParaRPr sz="1200" b="1" dirty="0">
                        <a:solidFill>
                          <a:schemeClr val="tx1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92075" marB="0">
                    <a:lnL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5786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6주차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2075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rgbClr val="F8D4C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b="1" dirty="0">
                          <a:solidFill>
                            <a:srgbClr val="942C14"/>
                          </a:solidFill>
                          <a:latin typeface="Malgun Gothic"/>
                          <a:cs typeface="Malgun Gothic"/>
                        </a:rPr>
                        <a:t>운전</a:t>
                      </a:r>
                      <a:r>
                        <a:rPr sz="1200" b="1" spc="-5" dirty="0">
                          <a:solidFill>
                            <a:srgbClr val="942C14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942C14"/>
                          </a:solidFill>
                          <a:latin typeface="Malgun Gothic"/>
                          <a:cs typeface="Malgun Gothic"/>
                        </a:rPr>
                        <a:t>스타일</a:t>
                      </a:r>
                      <a:r>
                        <a:rPr sz="1200" b="1" spc="10" dirty="0">
                          <a:solidFill>
                            <a:srgbClr val="942C14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 err="1">
                          <a:solidFill>
                            <a:srgbClr val="942C14"/>
                          </a:solidFill>
                          <a:latin typeface="Malgun Gothic"/>
                          <a:cs typeface="Malgun Gothic"/>
                        </a:rPr>
                        <a:t>적용</a:t>
                      </a:r>
                      <a:r>
                        <a:rPr lang="en-US" sz="1200" b="1" spc="-25" dirty="0">
                          <a:solidFill>
                            <a:srgbClr val="942C14"/>
                          </a:solidFill>
                          <a:latin typeface="Malgun Gothic"/>
                          <a:cs typeface="Malgun Gothic"/>
                        </a:rPr>
                        <a:t>, </a:t>
                      </a:r>
                      <a:r>
                        <a:rPr lang="ko-KR" altLang="en-US" sz="1200" b="1" spc="-25" dirty="0">
                          <a:solidFill>
                            <a:schemeClr val="tx1"/>
                          </a:solidFill>
                          <a:latin typeface="Malgun Gothic"/>
                          <a:cs typeface="Malgun Gothic"/>
                        </a:rPr>
                        <a:t>주차 재적용</a:t>
                      </a:r>
                      <a:r>
                        <a:rPr lang="en-US" altLang="ko-KR" sz="1200" b="1" spc="-25" dirty="0">
                          <a:solidFill>
                            <a:schemeClr val="tx1"/>
                          </a:solidFill>
                          <a:latin typeface="Malgun Gothic"/>
                          <a:cs typeface="Malgun Gothic"/>
                        </a:rPr>
                        <a:t>,</a:t>
                      </a: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lang="ko-KR" altLang="en-US" sz="1200" b="1" spc="-25" dirty="0">
                          <a:solidFill>
                            <a:schemeClr val="tx1"/>
                          </a:solidFill>
                          <a:latin typeface="Malgun Gothic"/>
                          <a:cs typeface="Malgun Gothic"/>
                        </a:rPr>
                        <a:t>사용자 조작 상호작용</a:t>
                      </a:r>
                      <a:r>
                        <a:rPr lang="en-US" altLang="ko-KR" sz="1200" b="1" spc="-25" dirty="0">
                          <a:solidFill>
                            <a:schemeClr val="tx1"/>
                          </a:solidFill>
                          <a:latin typeface="Malgun Gothic"/>
                          <a:cs typeface="Malgun Gothic"/>
                        </a:rPr>
                        <a:t>, </a:t>
                      </a:r>
                      <a:r>
                        <a:rPr lang="ko-KR" altLang="en-US" sz="1200" b="1" spc="-25" dirty="0">
                          <a:solidFill>
                            <a:schemeClr val="tx1"/>
                          </a:solidFill>
                          <a:latin typeface="Malgun Gothic"/>
                          <a:cs typeface="Malgun Gothic"/>
                        </a:rPr>
                        <a:t>차량 다양화</a:t>
                      </a:r>
                      <a:endParaRPr sz="1200" b="1" dirty="0">
                        <a:solidFill>
                          <a:schemeClr val="tx1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92075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rgbClr val="F8D4C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파라미터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튜닝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2075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  <a:solidFill>
                      <a:srgbClr val="F8D4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797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7주차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92075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대규모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차량</a:t>
                      </a:r>
                      <a:r>
                        <a:rPr sz="1200" b="1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최적화</a:t>
                      </a:r>
                      <a:endParaRPr sz="1200" b="1" dirty="0">
                        <a:latin typeface="Malgun Gothic"/>
                        <a:cs typeface="Malgun Gothic"/>
                      </a:endParaRPr>
                    </a:p>
                  </a:txBody>
                  <a:tcPr marL="0" marR="0" marT="92075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공간</a:t>
                      </a:r>
                      <a:r>
                        <a:rPr sz="1200" b="1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분할,</a:t>
                      </a: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AI/</a:t>
                      </a:r>
                      <a:r>
                        <a:rPr sz="1200" b="1" dirty="0" err="1">
                          <a:latin typeface="Malgun Gothic"/>
                          <a:cs typeface="Malgun Gothic"/>
                        </a:rPr>
                        <a:t>렌더링</a:t>
                      </a: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LOD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2075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345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8주차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2075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안정화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1200" b="1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폴리싱</a:t>
                      </a:r>
                      <a:endParaRPr sz="1200" b="1" dirty="0">
                        <a:latin typeface="Malgun Gothic"/>
                        <a:cs typeface="Malgun Gothic"/>
                      </a:endParaRPr>
                    </a:p>
                  </a:txBody>
                  <a:tcPr marL="0" marR="0" marT="92075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1D1D1"/>
                      </a:solidFill>
                      <a:prstDash val="solid"/>
                    </a:lnL>
                    <a:lnR w="6350">
                      <a:solidFill>
                        <a:srgbClr val="D1D1D1"/>
                      </a:solidFill>
                      <a:prstDash val="solid"/>
                    </a:lnR>
                    <a:lnT w="6350">
                      <a:solidFill>
                        <a:srgbClr val="D1D1D1"/>
                      </a:solidFill>
                      <a:prstDash val="solid"/>
                    </a:lnT>
                    <a:lnB w="6350">
                      <a:solidFill>
                        <a:srgbClr val="D1D1D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C186B376-45B3-D5CF-D960-F250F038C7B1}"/>
              </a:ext>
            </a:extLst>
          </p:cNvPr>
          <p:cNvSpPr txBox="1">
            <a:spLocks/>
          </p:cNvSpPr>
          <p:nvPr/>
        </p:nvSpPr>
        <p:spPr>
          <a:xfrm>
            <a:off x="1028700" y="1520351"/>
            <a:ext cx="10134600" cy="16973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  <a:cs typeface="Malgun Gothic"/>
              </a:rPr>
              <a:t>주차별 계획</a:t>
            </a:r>
            <a:endParaRPr lang="en-US" altLang="ko-KR" sz="1200" dirty="0">
              <a:latin typeface="Malgun Gothic"/>
              <a:cs typeface="Malgun Gothic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j-ea"/>
                <a:ea typeface="+mj-ea"/>
              </a:rPr>
              <a:t>6</a:t>
            </a:r>
            <a:r>
              <a:rPr lang="ko-KR" altLang="en-US" sz="1400" dirty="0">
                <a:latin typeface="+mj-ea"/>
                <a:ea typeface="+mj-ea"/>
              </a:rPr>
              <a:t>주차 목표 </a:t>
            </a:r>
            <a:r>
              <a:rPr lang="en-US" altLang="ko-KR" sz="1400" dirty="0">
                <a:latin typeface="+mj-ea"/>
                <a:ea typeface="+mj-ea"/>
              </a:rPr>
              <a:t>: </a:t>
            </a:r>
            <a:r>
              <a:rPr lang="ko-KR" altLang="en-US" sz="1400" b="1" dirty="0">
                <a:latin typeface="+mj-ea"/>
                <a:ea typeface="+mj-ea"/>
              </a:rPr>
              <a:t>구현 작업 마무리</a:t>
            </a:r>
            <a:endParaRPr lang="en-US" altLang="ko-KR" sz="1400" b="1" dirty="0">
              <a:latin typeface="+mj-ea"/>
              <a:ea typeface="+mj-ea"/>
            </a:endParaRPr>
          </a:p>
          <a:p>
            <a:pPr lvl="1">
              <a:lnSpc>
                <a:spcPct val="150000"/>
              </a:lnSpc>
            </a:pPr>
            <a:endParaRPr lang="en-US" altLang="ko-KR" sz="1200" dirty="0">
              <a:latin typeface="Malgun Gothic"/>
              <a:cs typeface="Malgun Gothic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latin typeface="Malgun Gothic"/>
              <a:cs typeface="Malgun Gothic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5411</TotalTime>
  <Words>266</Words>
  <Application>Microsoft Office PowerPoint</Application>
  <PresentationFormat>와이드스크린</PresentationFormat>
  <Paragraphs>60</Paragraphs>
  <Slides>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Malgun Gothic</vt:lpstr>
      <vt:lpstr>Malgun Gothic</vt:lpstr>
      <vt:lpstr>Arial</vt:lpstr>
      <vt:lpstr>Calibri</vt:lpstr>
      <vt:lpstr>Times New Roman</vt:lpstr>
      <vt:lpstr>Office Theme</vt:lpstr>
      <vt:lpstr>6주차 개발 진행 보고</vt:lpstr>
      <vt:lpstr>6주차 진행 현황</vt:lpstr>
      <vt:lpstr>결과 영상</vt:lpstr>
      <vt:lpstr>작업내용 – 구조 변경</vt:lpstr>
      <vt:lpstr>향후 진행 계획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박인영</dc:creator>
  <cp:lastModifiedBy>박인영</cp:lastModifiedBy>
  <cp:revision>97</cp:revision>
  <dcterms:created xsi:type="dcterms:W3CDTF">2026-07-10T04:44:00Z</dcterms:created>
  <dcterms:modified xsi:type="dcterms:W3CDTF">2026-08-05T06:53:28Z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2026-07-03T00:00:00Z</vt:filetime>
  </property>
  <property fmtid="{D5CDD505-2E9C-101B-9397-08002B2CF9AE}" pid="4" name="Creator">
    <vt:lpwstr>Microsoft® PowerPoint® Microsoft 365용</vt:lpwstr>
  </property>
  <property fmtid="{D5CDD505-2E9C-101B-9397-08002B2CF9AE}" pid="5" name="LastSaved">
    <vt:filetime>2026-07-10T00:00:00Z</vt:filetime>
  </property>
  <property fmtid="{D5CDD505-2E9C-101B-9397-08002B2CF9AE}" pid="6" name="Producer">
    <vt:lpwstr>Microsoft® PowerPoint® Microsoft 365용</vt:lpwstr>
  </property>
</Properties>
</file>