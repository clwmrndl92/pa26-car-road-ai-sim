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80" r:id="rId4"/>
    <p:sldId id="287" r:id="rId5"/>
    <p:sldId id="289" r:id="rId6"/>
    <p:sldId id="288" r:id="rId7"/>
    <p:sldId id="291" r:id="rId8"/>
    <p:sldId id="292" r:id="rId9"/>
    <p:sldId id="290" r:id="rId10"/>
    <p:sldId id="258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4CC"/>
    <a:srgbClr val="A6A6A6"/>
    <a:srgbClr val="E9EDF4"/>
    <a:srgbClr val="0070C0"/>
    <a:srgbClr val="CF3C1C"/>
    <a:srgbClr val="942C14"/>
    <a:srgbClr val="7D2611"/>
    <a:srgbClr val="969696"/>
    <a:srgbClr val="B9B9B9"/>
    <a:srgbClr val="25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8" autoAdjust="0"/>
    <p:restoredTop sz="85185" autoAdjust="0"/>
  </p:normalViewPr>
  <p:slideViewPr>
    <p:cSldViewPr>
      <p:cViewPr varScale="1">
        <p:scale>
          <a:sx n="108" d="100"/>
          <a:sy n="108" d="100"/>
        </p:scale>
        <p:origin x="42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12881-8C8D-44A6-AE66-9F7D64B0003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0BF9F-FA8F-4CB1-839A-D4536A9CA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82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7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9E03-83B8-3324-D7CB-210E94B1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7C7EA-76DE-0BF2-9DC1-E046199DC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B17FAF-F0A3-0F6F-2882-C65926ACE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357A5-8EFB-3567-8553-2C448DAC7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885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9664-A862-FED1-82D1-43482A8B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383DA0-76B9-5088-10B0-4AC53485B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7C29E2-F5AE-6014-4A66-7DDCC02BC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95606C-FF17-E991-D41D-3FBA9FD38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734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9CEEB-409A-9F4F-9F98-17D5F65D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FB4574-62AA-4077-AA59-9CCBD76A1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F80B98-C779-2B9D-DE06-80786F8A0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4CFFA-0B5A-DA40-AE82-77B5B8960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20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7879-4FC5-548A-5EFC-80C1E0FB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BCFBB0-DFCF-510E-1425-F04143AC9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DC3472-A92B-1898-3EAE-6F02FEE3D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58DD92-D7A9-6E23-C8E1-94E4499A9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202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9DE27-705A-C493-0D73-E8FEB9E7B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D8243A-86A5-F36F-8734-B293C64CE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A107D5-9A0A-6A4E-C24C-509628B99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604361-CCC1-14FA-7701-FB2E30F7C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690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2550-FF6E-EAAA-8AF3-FF4872047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73658F-99A5-8ED6-5596-6AA88D7CA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6D4AAE-F0A0-3D16-B7AD-8E5FF8681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6D133-8FC3-EFFC-C9BD-7459BEFCB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016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F278-EF23-39F7-1964-299B7620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5D4B90-DB07-8A2C-8E08-D500D295A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10CBE1-758B-6FE0-B15A-E7AA9046C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6FD5E-CC6D-97C5-52EA-69AF07407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07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638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2932" y="2572334"/>
            <a:ext cx="6614795" cy="84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84403"/>
            <a:ext cx="610425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0725" y="2085975"/>
            <a:ext cx="8210550" cy="3333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932" y="3695827"/>
            <a:ext cx="2962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자동차</a:t>
            </a:r>
            <a:r>
              <a:rPr sz="2400" spc="5" dirty="0">
                <a:solidFill>
                  <a:srgbClr val="CF3C1C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AI </a:t>
            </a:r>
            <a:r>
              <a:rPr sz="2400" spc="-10" dirty="0">
                <a:solidFill>
                  <a:srgbClr val="CF3C1C"/>
                </a:solidFill>
                <a:latin typeface="Malgun Gothic"/>
                <a:cs typeface="Malgun Gothic"/>
              </a:rPr>
              <a:t>시뮬레이션</a:t>
            </a:r>
            <a:endParaRPr sz="2400" dirty="0">
              <a:latin typeface="Malgun Gothic"/>
              <a:cs typeface="Malgun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393939"/>
                </a:solidFill>
              </a:rPr>
              <a:t>7</a:t>
            </a:r>
            <a:r>
              <a:rPr sz="5400" dirty="0">
                <a:solidFill>
                  <a:srgbClr val="393939"/>
                </a:solidFill>
              </a:rPr>
              <a:t>주차</a:t>
            </a:r>
            <a:r>
              <a:rPr sz="5400" spc="-10" dirty="0">
                <a:solidFill>
                  <a:srgbClr val="393939"/>
                </a:solidFill>
              </a:rPr>
              <a:t> </a:t>
            </a:r>
            <a:r>
              <a:rPr sz="5400" dirty="0">
                <a:solidFill>
                  <a:srgbClr val="393939"/>
                </a:solidFill>
              </a:rPr>
              <a:t>개발 진행</a:t>
            </a:r>
            <a:r>
              <a:rPr sz="5400" spc="-5" dirty="0">
                <a:solidFill>
                  <a:srgbClr val="393939"/>
                </a:solidFill>
              </a:rPr>
              <a:t> </a:t>
            </a:r>
            <a:r>
              <a:rPr sz="5400" spc="-25" dirty="0">
                <a:solidFill>
                  <a:srgbClr val="393939"/>
                </a:solidFill>
              </a:rPr>
              <a:t>보고</a:t>
            </a:r>
            <a:endParaRPr sz="5400" dirty="0"/>
          </a:p>
        </p:txBody>
      </p:sp>
      <p:sp>
        <p:nvSpPr>
          <p:cNvPr id="4" name="object 4"/>
          <p:cNvSpPr txBox="1"/>
          <p:nvPr/>
        </p:nvSpPr>
        <p:spPr>
          <a:xfrm>
            <a:off x="9659239" y="6299403"/>
            <a:ext cx="20574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Malgun Gothic"/>
                <a:cs typeface="Malgun Gothic"/>
              </a:rPr>
              <a:t>2026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펄어비스</a:t>
            </a:r>
            <a:r>
              <a:rPr sz="1050" spc="-2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여름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인턴 | </a:t>
            </a:r>
            <a:r>
              <a:rPr sz="1050" spc="-25" dirty="0">
                <a:latin typeface="Malgun Gothic"/>
                <a:cs typeface="Malgun Gothic"/>
              </a:rPr>
              <a:t>박인영</a:t>
            </a:r>
            <a:endParaRPr sz="10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78A6384-9146-4939-394F-B34ADED8A35A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912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목표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회피 개선 및 추격 기능 추가</a:t>
            </a:r>
            <a:endParaRPr lang="en-US" altLang="ko-KR" sz="1600" b="1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이번주 작업</a:t>
            </a:r>
            <a:endParaRPr lang="en-US" altLang="ko-KR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회피 개선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추격 기능 추가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7</a:t>
            </a:r>
            <a:r>
              <a:rPr dirty="0"/>
              <a:t>주차</a:t>
            </a:r>
            <a:r>
              <a:rPr spc="-50" dirty="0"/>
              <a:t> </a:t>
            </a:r>
            <a:r>
              <a:rPr dirty="0"/>
              <a:t>진행</a:t>
            </a:r>
            <a:r>
              <a:rPr spc="-50" dirty="0"/>
              <a:t> </a:t>
            </a:r>
            <a:r>
              <a:rPr spc="-25" dirty="0"/>
              <a:t>현황</a:t>
            </a:r>
          </a:p>
        </p:txBody>
      </p:sp>
      <p:sp>
        <p:nvSpPr>
          <p:cNvPr id="4" name="object 4"/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7376-BB65-3A9B-0C7C-C1858D82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9773436-FEEE-D3F3-3DB3-19CBE6D8C5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결과 영상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C4EE4B8-DEA3-9649-E686-573E3C5A4D6C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881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7F9AD-6284-CA63-834C-73A68A36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7BF7D33-49B8-B78D-8930-21A443B81B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 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회피 개선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B677F46-EBF6-B1EE-5982-726C9BF9C1AB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B11D8F4-5D29-A54D-D2F6-EC59CEB6CB33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374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주행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A* </a:t>
            </a:r>
            <a:r>
              <a:rPr lang="ko-KR" altLang="en-US" sz="1400" dirty="0"/>
              <a:t>로 찾은 경로 따라 목적지까지 주행 </a:t>
            </a:r>
            <a:r>
              <a:rPr lang="en-US" altLang="ko-KR" sz="1400" dirty="0"/>
              <a:t>(</a:t>
            </a:r>
            <a:r>
              <a:rPr lang="ko-KR" altLang="en-US" sz="1400" dirty="0"/>
              <a:t>주차 </a:t>
            </a:r>
            <a:r>
              <a:rPr lang="en-US" altLang="ko-KR" sz="1400" dirty="0"/>
              <a:t>O) 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 err="1"/>
              <a:t>랜덤한</a:t>
            </a:r>
            <a:r>
              <a:rPr lang="ko-KR" altLang="en-US" sz="1400" dirty="0"/>
              <a:t> 도로로 배회 </a:t>
            </a:r>
            <a:r>
              <a:rPr lang="en-US" altLang="ko-KR" sz="1400" dirty="0"/>
              <a:t>(</a:t>
            </a:r>
            <a:r>
              <a:rPr lang="ko-KR" altLang="en-US" sz="1400" dirty="0"/>
              <a:t>주차 </a:t>
            </a:r>
            <a:r>
              <a:rPr lang="en-US" altLang="ko-KR" sz="1400" dirty="0"/>
              <a:t>X) 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길찾기</a:t>
            </a:r>
            <a:r>
              <a:rPr lang="ko-KR" altLang="ko-KR" sz="1200" dirty="0"/>
              <a:t> 연계</a:t>
            </a:r>
            <a:r>
              <a:rPr lang="en-US" altLang="ko-KR" sz="1200" dirty="0"/>
              <a:t> </a:t>
            </a:r>
            <a:r>
              <a:rPr lang="ko-KR" altLang="ko-KR" sz="1200" dirty="0"/>
              <a:t>: 교차로에 접근할수록 차선 변경 가중치 상향 조정</a:t>
            </a:r>
            <a:r>
              <a:rPr lang="ko-KR" altLang="ko-KR" sz="1200" dirty="0">
                <a:latin typeface="+mn-ea"/>
              </a:rPr>
              <a:t>↑</a:t>
            </a:r>
            <a:endParaRPr lang="en-US" altLang="ko-KR" sz="1200" dirty="0">
              <a:latin typeface="+mn-ea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A74C82-4A3E-6A91-AAF4-00C1C2DE3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102950"/>
            <a:ext cx="4739829" cy="366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7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A68F-904E-EB60-BAD0-77FEF74C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C51FAA6-4370-02F8-0681-A30036D51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 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회피 개선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7F30012-19CB-86FE-F292-C0B05521A786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EFA53D2-517E-445B-2CBB-787842B0F27B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773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n-ea"/>
                <a:cs typeface="Malgun Gothic"/>
              </a:rPr>
              <a:t>코리도어</a:t>
            </a:r>
            <a:r>
              <a:rPr lang="ko-KR" altLang="en-US" sz="1600" dirty="0">
                <a:latin typeface="+mn-ea"/>
                <a:cs typeface="Malgun Gothic"/>
              </a:rPr>
              <a:t> </a:t>
            </a:r>
            <a:r>
              <a:rPr lang="en-US" altLang="ko-KR" sz="1600" dirty="0">
                <a:latin typeface="+mn-ea"/>
                <a:cs typeface="Malgun Gothic"/>
              </a:rPr>
              <a:t>vs </a:t>
            </a:r>
            <a:r>
              <a:rPr lang="ko-KR" altLang="en-US" sz="1600" dirty="0" err="1">
                <a:latin typeface="+mn-ea"/>
                <a:cs typeface="Malgun Gothic"/>
              </a:rPr>
              <a:t>레이캐스트</a:t>
            </a:r>
            <a:r>
              <a:rPr lang="ko-KR" altLang="en-US" sz="1600" dirty="0">
                <a:latin typeface="+mn-ea"/>
                <a:cs typeface="Malgun Gothic"/>
              </a:rPr>
              <a:t> 성능 비교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/>
              <a:t>레이캐스트</a:t>
            </a:r>
            <a:r>
              <a:rPr lang="ko-KR" altLang="en-US" sz="1400" dirty="0"/>
              <a:t> </a:t>
            </a:r>
            <a:r>
              <a:rPr lang="en-US" altLang="ko-KR" sz="1400" dirty="0"/>
              <a:t>-&gt; </a:t>
            </a:r>
            <a:r>
              <a:rPr lang="ko-KR" altLang="en-US" sz="1400" dirty="0" err="1"/>
              <a:t>코리도어</a:t>
            </a:r>
            <a:r>
              <a:rPr lang="ko-KR" altLang="en-US" sz="1400" dirty="0"/>
              <a:t> </a:t>
            </a:r>
            <a:r>
              <a:rPr lang="en-US" altLang="ko-KR" sz="1400" dirty="0"/>
              <a:t>-&gt; </a:t>
            </a:r>
            <a:r>
              <a:rPr lang="ko-KR" altLang="en-US" sz="1400" dirty="0" err="1"/>
              <a:t>코리도어</a:t>
            </a:r>
            <a:r>
              <a:rPr lang="ko-KR" altLang="en-US" sz="1400" dirty="0"/>
              <a:t> 최적화 </a:t>
            </a:r>
            <a:r>
              <a:rPr lang="ko-KR" altLang="en-US" sz="1400" dirty="0" err="1"/>
              <a:t>세개</a:t>
            </a:r>
            <a:r>
              <a:rPr lang="ko-KR" altLang="en-US" sz="1400" dirty="0"/>
              <a:t> 비교</a:t>
            </a:r>
            <a:endParaRPr lang="en-US" altLang="ko-KR" sz="14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66C5DC7-A053-6C6C-6F38-76270F571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374018"/>
              </p:ext>
            </p:extLst>
          </p:nvPr>
        </p:nvGraphicFramePr>
        <p:xfrm>
          <a:off x="3733800" y="3200400"/>
          <a:ext cx="4411920" cy="253037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02980">
                  <a:extLst>
                    <a:ext uri="{9D8B030D-6E8A-4147-A177-3AD203B41FA5}">
                      <a16:colId xmlns:a16="http://schemas.microsoft.com/office/drawing/2014/main" val="308746072"/>
                    </a:ext>
                  </a:extLst>
                </a:gridCol>
                <a:gridCol w="1102980">
                  <a:extLst>
                    <a:ext uri="{9D8B030D-6E8A-4147-A177-3AD203B41FA5}">
                      <a16:colId xmlns:a16="http://schemas.microsoft.com/office/drawing/2014/main" val="362796607"/>
                    </a:ext>
                  </a:extLst>
                </a:gridCol>
                <a:gridCol w="1102980">
                  <a:extLst>
                    <a:ext uri="{9D8B030D-6E8A-4147-A177-3AD203B41FA5}">
                      <a16:colId xmlns:a16="http://schemas.microsoft.com/office/drawing/2014/main" val="3606350442"/>
                    </a:ext>
                  </a:extLst>
                </a:gridCol>
                <a:gridCol w="1102980">
                  <a:extLst>
                    <a:ext uri="{9D8B030D-6E8A-4147-A177-3AD203B41FA5}">
                      <a16:colId xmlns:a16="http://schemas.microsoft.com/office/drawing/2014/main" val="1055238234"/>
                    </a:ext>
                  </a:extLst>
                </a:gridCol>
              </a:tblGrid>
              <a:tr h="361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ko-KR" sz="1400" b="1" dirty="0" err="1">
                          <a:solidFill>
                            <a:schemeClr val="tx1"/>
                          </a:solidFill>
                          <a:effectLst/>
                        </a:rPr>
                        <a:t>bstacles</a:t>
                      </a:r>
                      <a:endParaRPr lang="ko-KR" sz="14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r>
                        <a:rPr lang="ko-KR" sz="1400" b="1" dirty="0" err="1">
                          <a:solidFill>
                            <a:schemeClr val="tx1"/>
                          </a:solidFill>
                          <a:effectLst/>
                        </a:rPr>
                        <a:t>efore</a:t>
                      </a:r>
                      <a:endParaRPr lang="ko-KR" sz="14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ko-KR" sz="1400" b="1" dirty="0" err="1">
                          <a:solidFill>
                            <a:schemeClr val="tx1"/>
                          </a:solidFill>
                          <a:effectLst/>
                        </a:rPr>
                        <a:t>fter</a:t>
                      </a:r>
                      <a:endParaRPr lang="ko-KR" sz="14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ko-KR" sz="1400" b="1" dirty="0" err="1">
                          <a:solidFill>
                            <a:schemeClr val="tx1"/>
                          </a:solidFill>
                          <a:effectLst/>
                        </a:rPr>
                        <a:t>peed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r>
                        <a:rPr lang="ko-KR" sz="1400" b="1" dirty="0" err="1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ko-KR" sz="14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>
                    <a:solidFill>
                      <a:srgbClr val="F8D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755428"/>
                  </a:ext>
                </a:extLst>
              </a:tr>
              <a:tr h="361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742253667"/>
                  </a:ext>
                </a:extLst>
              </a:tr>
              <a:tr h="361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522075752"/>
                  </a:ext>
                </a:extLst>
              </a:tr>
              <a:tr h="361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049783989"/>
                  </a:ext>
                </a:extLst>
              </a:tr>
              <a:tr h="361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673620822"/>
                  </a:ext>
                </a:extLst>
              </a:tr>
              <a:tr h="361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635079519"/>
                  </a:ext>
                </a:extLst>
              </a:tr>
              <a:tr h="361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4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93271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552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1F92C-0689-43A1-FD19-1FD30263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FF9429C-9529-7955-DCA9-86088193FF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 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추격 및 도주 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09A26DA-DC6A-60D8-B236-41227E060607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3487A43-87B6-A8BC-A3C6-13F101EBC232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09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사이렌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주변 자동차가 양 사이드로 붙어서 길을 열어준다</a:t>
            </a:r>
            <a:r>
              <a:rPr lang="en-US" altLang="ko-KR" sz="1400" dirty="0"/>
              <a:t> 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ED1ED0-93B1-556D-9C5A-AE72DCFAAD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914" y="2617511"/>
            <a:ext cx="6654172" cy="392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6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4A628-D65E-005A-687C-39236A222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7F88BB3-ACB7-B5AD-6A84-D6E3AECCC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 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추격 및 도주 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6277CE-D213-599C-E35D-6C3598AC2746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223CB86-5CEB-CBCA-2ECF-0845184672A8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09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도주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A* </a:t>
            </a:r>
            <a:r>
              <a:rPr lang="ko-KR" altLang="en-US" sz="1400" dirty="0"/>
              <a:t>로 찾은 경로 따라 목적지까지 주행 </a:t>
            </a:r>
            <a:r>
              <a:rPr lang="en-US" altLang="ko-KR" sz="1400" dirty="0"/>
              <a:t>(</a:t>
            </a:r>
            <a:r>
              <a:rPr lang="ko-KR" altLang="en-US" sz="1400" dirty="0"/>
              <a:t>주차 </a:t>
            </a:r>
            <a:r>
              <a:rPr lang="en-US" altLang="ko-KR" sz="1400" dirty="0"/>
              <a:t>O) 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 err="1"/>
              <a:t>랜덤한</a:t>
            </a:r>
            <a:r>
              <a:rPr lang="ko-KR" altLang="en-US" sz="1400" dirty="0"/>
              <a:t> 도로로 배회 </a:t>
            </a:r>
            <a:r>
              <a:rPr lang="en-US" altLang="ko-KR" sz="1400" dirty="0"/>
              <a:t>(</a:t>
            </a:r>
            <a:r>
              <a:rPr lang="ko-KR" altLang="en-US" sz="1400" dirty="0"/>
              <a:t>주차 </a:t>
            </a:r>
            <a:r>
              <a:rPr lang="en-US" altLang="ko-KR" sz="1400" dirty="0"/>
              <a:t>X) 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088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561B5-B37E-F156-8B5E-A7D6DACE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6E2C673-507A-314D-F2A2-50FDF4738C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 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추격 및 도주 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C2FB964-4A5D-4957-FF7C-3E7730040C40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DA2AC38-8E67-C349-24A8-418BA5364093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09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추격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A* </a:t>
            </a:r>
            <a:r>
              <a:rPr lang="ko-KR" altLang="en-US" sz="1400" dirty="0"/>
              <a:t>로 찾은 경로 따라 목적지까지 주행 </a:t>
            </a:r>
            <a:r>
              <a:rPr lang="en-US" altLang="ko-KR" sz="1400" dirty="0"/>
              <a:t>(</a:t>
            </a:r>
            <a:r>
              <a:rPr lang="ko-KR" altLang="en-US" sz="1400" dirty="0"/>
              <a:t>주차 </a:t>
            </a:r>
            <a:r>
              <a:rPr lang="en-US" altLang="ko-KR" sz="1400" dirty="0"/>
              <a:t>O) 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 err="1"/>
              <a:t>랜덤한</a:t>
            </a:r>
            <a:r>
              <a:rPr lang="ko-KR" altLang="en-US" sz="1400" dirty="0"/>
              <a:t> 도로로 배회 </a:t>
            </a:r>
            <a:r>
              <a:rPr lang="en-US" altLang="ko-KR" sz="1400" dirty="0"/>
              <a:t>(</a:t>
            </a:r>
            <a:r>
              <a:rPr lang="ko-KR" altLang="en-US" sz="1400" dirty="0"/>
              <a:t>주차 </a:t>
            </a:r>
            <a:r>
              <a:rPr lang="en-US" altLang="ko-KR" sz="1400" dirty="0"/>
              <a:t>X) 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11775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C9DCE-1956-0090-120C-77D672441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A5A9B41-302B-DB75-73D2-E5538D0AF6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추가 작업 </a:t>
            </a:r>
            <a:r>
              <a:rPr lang="en-US" altLang="ko-KR" spc="-25" dirty="0"/>
              <a:t>– </a:t>
            </a:r>
            <a:r>
              <a:rPr lang="ko-KR" altLang="en-US" spc="-25" dirty="0"/>
              <a:t>랜덤 주차 스타일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4D901F5-BBE1-BD7F-46AA-6BDF24D4B7FD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ACE5BDD-3496-AC60-2DA3-A78E4C827D04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09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주행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A* </a:t>
            </a:r>
            <a:r>
              <a:rPr lang="ko-KR" altLang="en-US" sz="1400" dirty="0"/>
              <a:t>로 찾은 경로 따라 목적지까지 주행 </a:t>
            </a:r>
            <a:r>
              <a:rPr lang="en-US" altLang="ko-KR" sz="1400" dirty="0"/>
              <a:t>(</a:t>
            </a:r>
            <a:r>
              <a:rPr lang="ko-KR" altLang="en-US" sz="1400" dirty="0"/>
              <a:t>주차 </a:t>
            </a:r>
            <a:r>
              <a:rPr lang="en-US" altLang="ko-KR" sz="1400" dirty="0"/>
              <a:t>O) 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 err="1"/>
              <a:t>랜덤한</a:t>
            </a:r>
            <a:r>
              <a:rPr lang="ko-KR" altLang="en-US" sz="1400" dirty="0"/>
              <a:t> 도로로 배회 </a:t>
            </a:r>
            <a:r>
              <a:rPr lang="en-US" altLang="ko-KR" sz="1400" dirty="0"/>
              <a:t>(</a:t>
            </a:r>
            <a:r>
              <a:rPr lang="ko-KR" altLang="en-US" sz="1400" dirty="0"/>
              <a:t>주차 </a:t>
            </a:r>
            <a:r>
              <a:rPr lang="en-US" altLang="ko-KR" sz="1400" dirty="0"/>
              <a:t>X) 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450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dirty="0"/>
              <a:t>향후</a:t>
            </a:r>
            <a:r>
              <a:rPr spc="-70" dirty="0"/>
              <a:t> </a:t>
            </a:r>
            <a:r>
              <a:rPr dirty="0"/>
              <a:t>진행</a:t>
            </a:r>
            <a:r>
              <a:rPr spc="-75" dirty="0"/>
              <a:t> </a:t>
            </a:r>
            <a:r>
              <a:rPr spc="-25" dirty="0"/>
              <a:t>계획</a:t>
            </a:r>
          </a:p>
        </p:txBody>
      </p:sp>
      <p:sp>
        <p:nvSpPr>
          <p:cNvPr id="5" name="object 5"/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053417"/>
              </p:ext>
            </p:extLst>
          </p:nvPr>
        </p:nvGraphicFramePr>
        <p:xfrm>
          <a:off x="2032000" y="2438400"/>
          <a:ext cx="8128000" cy="3463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5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7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내용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비고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1주차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렌더링</a:t>
                      </a:r>
                      <a:r>
                        <a:rPr sz="1200" b="0" spc="-15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기반 구축,</a:t>
                      </a:r>
                      <a:r>
                        <a:rPr sz="1200" b="0" spc="-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차량 </a:t>
                      </a:r>
                      <a:r>
                        <a:rPr sz="1200" b="0" spc="-10" dirty="0">
                          <a:latin typeface="+mn-ea"/>
                          <a:ea typeface="+mn-ea"/>
                          <a:cs typeface="Malgun Gothic"/>
                        </a:rPr>
                        <a:t>조향/가속/제동/후진</a:t>
                      </a:r>
                      <a:endParaRPr sz="1200" b="0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강체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물리,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자전거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모델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45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2주차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길찾기,</a:t>
                      </a:r>
                      <a:r>
                        <a:rPr sz="1200" b="0" spc="-5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차선</a:t>
                      </a:r>
                      <a:r>
                        <a:rPr sz="1200" b="0" spc="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추종,</a:t>
                      </a:r>
                      <a:r>
                        <a:rPr sz="1200" b="0" spc="-5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spc="-20" dirty="0">
                          <a:latin typeface="+mn-ea"/>
                          <a:ea typeface="+mn-ea"/>
                          <a:cs typeface="Malgun Gothic"/>
                        </a:rPr>
                        <a:t>차선변경</a:t>
                      </a:r>
                      <a:endParaRPr sz="1200" b="0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BT,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스플라인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그래프,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A*,</a:t>
                      </a:r>
                      <a:r>
                        <a:rPr sz="12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 err="1">
                          <a:latin typeface="Malgun Gothic"/>
                          <a:cs typeface="Malgun Gothic"/>
                        </a:rPr>
                        <a:t>PurePursuit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3주차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ko-KR" altLang="en-US" sz="1200" b="0" dirty="0">
                          <a:latin typeface="+mn-ea"/>
                          <a:ea typeface="+mn-ea"/>
                          <a:cs typeface="Malgun Gothic"/>
                        </a:rPr>
                        <a:t>주차 구현 및 단독 주행 튜닝 </a:t>
                      </a:r>
                      <a:endParaRPr sz="1200" b="0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lang="en-US" sz="1200" b="1" dirty="0">
                          <a:latin typeface="Malgun Gothic"/>
                          <a:cs typeface="Malgun Gothic"/>
                        </a:rPr>
                        <a:t>Reeds-Shepp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4주차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주행</a:t>
                      </a:r>
                      <a:r>
                        <a:rPr sz="1200" b="0" spc="-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AI</a:t>
                      </a:r>
                      <a:r>
                        <a:rPr sz="1200" b="0" spc="2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:</a:t>
                      </a:r>
                      <a:r>
                        <a:rPr sz="1200" b="0" spc="-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앞차</a:t>
                      </a:r>
                      <a:r>
                        <a:rPr sz="1200" b="0" spc="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감지,</a:t>
                      </a:r>
                      <a:r>
                        <a:rPr sz="1200" b="0" spc="-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안전거리</a:t>
                      </a:r>
                      <a:r>
                        <a:rPr sz="1200" b="0" spc="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유지,</a:t>
                      </a:r>
                      <a:r>
                        <a:rPr sz="1200" b="0" spc="-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신호</a:t>
                      </a:r>
                      <a:r>
                        <a:rPr sz="1200" b="0" spc="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spc="-50" dirty="0">
                          <a:latin typeface="+mn-ea"/>
                          <a:ea typeface="+mn-ea"/>
                          <a:cs typeface="Malgun Gothic"/>
                        </a:rPr>
                        <a:t>등</a:t>
                      </a:r>
                      <a:endParaRPr sz="1200" b="0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en-US" sz="1200" b="1" spc="-20" dirty="0">
                          <a:latin typeface="Malgun Gothic"/>
                          <a:cs typeface="Malgun Gothic"/>
                        </a:rPr>
                        <a:t>IDM, MOBIL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5주차</a:t>
                      </a:r>
                      <a:endParaRPr sz="1200" dirty="0">
                        <a:solidFill>
                          <a:schemeClr val="tx1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추월</a:t>
                      </a:r>
                      <a:r>
                        <a:rPr sz="1200" b="0" spc="-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sz="1200" b="0" spc="1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도로 합류</a:t>
                      </a:r>
                      <a:r>
                        <a:rPr sz="1200" b="0" spc="-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sz="1200" b="0" spc="1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1200" b="0" spc="1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장애물</a:t>
                      </a:r>
                      <a:r>
                        <a:rPr sz="1200" b="0" spc="-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대처</a:t>
                      </a:r>
                      <a:r>
                        <a:rPr sz="1200" b="0" spc="-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차선</a:t>
                      </a:r>
                      <a:r>
                        <a:rPr sz="1200" b="0" spc="-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spc="-25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우회</a:t>
                      </a:r>
                      <a:r>
                        <a:rPr sz="1200" b="0" spc="-2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</a:t>
                      </a:r>
                      <a:r>
                        <a:rPr lang="en-US" sz="1200" b="0" spc="-2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/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운전</a:t>
                      </a:r>
                      <a:r>
                        <a:rPr lang="ko-KR" altLang="en-US" sz="1200" b="0" spc="-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스타일</a:t>
                      </a:r>
                      <a:r>
                        <a:rPr lang="ko-KR" altLang="en-US" sz="1200" b="0" spc="1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1200" b="0" spc="-2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적용</a:t>
                      </a:r>
                      <a:endParaRPr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Malgun Gothic"/>
                          <a:cs typeface="Malgun Gothic"/>
                        </a:rPr>
                        <a:t>파라미터</a:t>
                      </a:r>
                      <a:r>
                        <a:rPr lang="ko-KR" altLang="en-US"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00" b="1" spc="-25" dirty="0">
                          <a:latin typeface="Malgun Gothic"/>
                          <a:cs typeface="Malgun Gothic"/>
                        </a:rPr>
                        <a:t>튜닝</a:t>
                      </a:r>
                      <a:endParaRPr lang="ko-KR" altLang="en-US"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3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6주차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lang="ko-KR" altLang="en-US" sz="1200" b="0" spc="-2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주차 재적용</a:t>
                      </a:r>
                      <a:r>
                        <a:rPr lang="en-US" altLang="ko-KR" sz="1200" b="0" spc="-2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, </a:t>
                      </a:r>
                      <a:r>
                        <a:rPr lang="ko-KR" altLang="en-US" sz="1200" b="0" spc="-2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사용자 조작 상호작용</a:t>
                      </a:r>
                      <a:r>
                        <a:rPr lang="en-US" altLang="ko-KR" sz="1200" b="0" spc="-2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, </a:t>
                      </a:r>
                      <a:r>
                        <a:rPr lang="ko-KR" altLang="en-US" sz="1200" b="0" spc="-25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차량 다양화</a:t>
                      </a:r>
                      <a:endParaRPr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7주차</a:t>
                      </a:r>
                      <a:endParaRPr sz="1200">
                        <a:solidFill>
                          <a:srgbClr val="C0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lang="ko-KR" altLang="en-US" sz="1200" b="0" spc="-25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Malgun Gothic"/>
                        </a:rPr>
                        <a:t>회피 개선</a:t>
                      </a:r>
                      <a:r>
                        <a:rPr lang="en-US" altLang="ko-KR" sz="1200" b="0" spc="-25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Malgun Gothic"/>
                        </a:rPr>
                        <a:t>,</a:t>
                      </a:r>
                      <a:r>
                        <a:rPr lang="ko-KR" altLang="en-US" sz="1200" b="0" spc="-25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Malgun Gothic"/>
                        </a:rPr>
                        <a:t> 추격 및 도주</a:t>
                      </a:r>
                      <a:endParaRPr sz="1200" b="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200" dirty="0">
                        <a:solidFill>
                          <a:srgbClr val="C0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45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8주차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안정화</a:t>
                      </a:r>
                      <a:r>
                        <a:rPr sz="1200" b="0" spc="-5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dirty="0">
                          <a:latin typeface="+mn-ea"/>
                          <a:ea typeface="+mn-ea"/>
                          <a:cs typeface="Malgun Gothic"/>
                        </a:rPr>
                        <a:t>및</a:t>
                      </a:r>
                      <a:r>
                        <a:rPr sz="1200" b="0" spc="10" dirty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1200" b="0" spc="-25" dirty="0">
                          <a:latin typeface="+mn-ea"/>
                          <a:ea typeface="+mn-ea"/>
                          <a:cs typeface="Malgun Gothic"/>
                        </a:rPr>
                        <a:t>폴리싱</a:t>
                      </a:r>
                      <a:endParaRPr sz="1200" b="0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b="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186B376-45B3-D5CF-D960-F250F038C7B1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050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주차별 계획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6328</TotalTime>
  <Words>315</Words>
  <Application>Microsoft Office PowerPoint</Application>
  <PresentationFormat>와이드스크린</PresentationFormat>
  <Paragraphs>67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-apple-system</vt:lpstr>
      <vt:lpstr>Malgun Gothic</vt:lpstr>
      <vt:lpstr>Malgun Gothic</vt:lpstr>
      <vt:lpstr>Arial</vt:lpstr>
      <vt:lpstr>Calibri</vt:lpstr>
      <vt:lpstr>Office Theme</vt:lpstr>
      <vt:lpstr>7주차 개발 진행 보고</vt:lpstr>
      <vt:lpstr>7주차 진행 현황</vt:lpstr>
      <vt:lpstr>결과 영상</vt:lpstr>
      <vt:lpstr>작업 내용 – 회피 개선</vt:lpstr>
      <vt:lpstr>작업 내용 – 회피 개선</vt:lpstr>
      <vt:lpstr>작업 내용 – 추격 및 도주 </vt:lpstr>
      <vt:lpstr>작업 내용 – 추격 및 도주 </vt:lpstr>
      <vt:lpstr>작업 내용 – 추격 및 도주 </vt:lpstr>
      <vt:lpstr>추가 작업 – 랜덤 주차 스타일</vt:lpstr>
      <vt:lpstr>향후 진행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박인영</dc:creator>
  <cp:lastModifiedBy>박인영</cp:lastModifiedBy>
  <cp:revision>155</cp:revision>
  <dcterms:created xsi:type="dcterms:W3CDTF">2026-07-10T04:44:00Z</dcterms:created>
  <dcterms:modified xsi:type="dcterms:W3CDTF">2026-08-12T09:25:56Z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2026-07-03T00:00:00Z</vt:filetime>
  </property>
  <property fmtid="{D5CDD505-2E9C-101B-9397-08002B2CF9AE}" pid="4" name="Creator">
    <vt:lpwstr>Microsoft® PowerPoint® Microsoft 365용</vt:lpwstr>
  </property>
  <property fmtid="{D5CDD505-2E9C-101B-9397-08002B2CF9AE}" pid="5" name="LastSaved">
    <vt:filetime>2026-07-10T00:00:00Z</vt:filetime>
  </property>
  <property fmtid="{D5CDD505-2E9C-101B-9397-08002B2CF9AE}" pid="6" name="Producer">
    <vt:lpwstr>Microsoft® PowerPoint® Microsoft 365용</vt:lpwstr>
  </property>
</Properties>
</file>